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0" r:id="rId10"/>
    <p:sldId id="263" r:id="rId11"/>
    <p:sldId id="264" r:id="rId12"/>
    <p:sldId id="271" r:id="rId13"/>
    <p:sldId id="265" r:id="rId14"/>
    <p:sldId id="282" r:id="rId15"/>
    <p:sldId id="283" r:id="rId16"/>
    <p:sldId id="284" r:id="rId17"/>
    <p:sldId id="285" r:id="rId18"/>
    <p:sldId id="286" r:id="rId19"/>
    <p:sldId id="287" r:id="rId20"/>
    <p:sldId id="292" r:id="rId21"/>
    <p:sldId id="288" r:id="rId22"/>
    <p:sldId id="289" r:id="rId23"/>
    <p:sldId id="290" r:id="rId24"/>
    <p:sldId id="291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277" r:id="rId35"/>
    <p:sldId id="302" r:id="rId36"/>
    <p:sldId id="303" r:id="rId37"/>
    <p:sldId id="278" r:id="rId38"/>
    <p:sldId id="279" r:id="rId39"/>
    <p:sldId id="280" r:id="rId40"/>
    <p:sldId id="281" r:id="rId41"/>
    <p:sldId id="266" r:id="rId42"/>
    <p:sldId id="268" r:id="rId43"/>
  </p:sldIdLst>
  <p:sldSz cx="18288000" cy="10287000"/>
  <p:notesSz cx="6858000" cy="9144000"/>
  <p:embeddedFontLst>
    <p:embeddedFont>
      <p:font typeface="Canva Sans" panose="020B0604020202020204" charset="0"/>
      <p:regular r:id="rId45"/>
    </p:embeddedFont>
    <p:embeddedFont>
      <p:font typeface="Darker Grotesque Medium" panose="020B0604020202020204" charset="0"/>
      <p:regular r:id="rId46"/>
    </p:embeddedFont>
    <p:embeddedFont>
      <p:font typeface="Gill Sans Light Shadowed" panose="020B0604020202020204" charset="0"/>
      <p:regular r:id="rId47"/>
    </p:embeddedFont>
    <p:embeddedFont>
      <p:font typeface="Poppins" panose="00000500000000000000" pitchFamily="2" charset="0"/>
      <p:regular r:id="rId48"/>
      <p:bold r:id="rId49"/>
      <p:italic r:id="rId50"/>
      <p:boldItalic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11F8A-5B1E-4C95-BC6F-B20EEFB0978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CECEF-8582-4756-A576-A97DA89EE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3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CECEF-8582-4756-A576-A97DA89EE7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CECEF-8582-4756-A576-A97DA89EE7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11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CECEF-8582-4756-A576-A97DA89EE70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11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CECEF-8582-4756-A576-A97DA89EE70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33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CECEF-8582-4756-A576-A97DA89EE70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56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10600" y="-419100"/>
            <a:ext cx="13758586" cy="1106526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2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3657285-83CD-C7F6-904B-F52AF04A890A}"/>
              </a:ext>
            </a:extLst>
          </p:cNvPr>
          <p:cNvSpPr/>
          <p:nvPr/>
        </p:nvSpPr>
        <p:spPr>
          <a:xfrm>
            <a:off x="14471754" y="2461958"/>
            <a:ext cx="3156779" cy="206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6"/>
          <p:cNvSpPr/>
          <p:nvPr/>
        </p:nvSpPr>
        <p:spPr>
          <a:xfrm rot="1928182">
            <a:off x="15289670" y="2512938"/>
            <a:ext cx="1520946" cy="1325706"/>
          </a:xfrm>
          <a:custGeom>
            <a:avLst/>
            <a:gdLst/>
            <a:ahLst/>
            <a:cxnLst/>
            <a:rect l="l" t="t" r="r" b="b"/>
            <a:pathLst>
              <a:path w="1767623" h="2280804">
                <a:moveTo>
                  <a:pt x="0" y="0"/>
                </a:moveTo>
                <a:lnTo>
                  <a:pt x="1767623" y="0"/>
                </a:lnTo>
                <a:lnTo>
                  <a:pt x="1767623" y="2280804"/>
                </a:lnTo>
                <a:lnTo>
                  <a:pt x="0" y="2280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304800" y="1647715"/>
            <a:ext cx="12554784" cy="1848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5400" b="1" dirty="0">
                <a:solidFill>
                  <a:srgbClr val="8B6598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BANK CUSTOMER churn analysis</a:t>
            </a:r>
          </a:p>
        </p:txBody>
      </p:sp>
      <p:sp>
        <p:nvSpPr>
          <p:cNvPr id="13" name="Freeform 13"/>
          <p:cNvSpPr/>
          <p:nvPr/>
        </p:nvSpPr>
        <p:spPr>
          <a:xfrm>
            <a:off x="5228787" y="4937077"/>
            <a:ext cx="1497002" cy="1455834"/>
          </a:xfrm>
          <a:custGeom>
            <a:avLst/>
            <a:gdLst/>
            <a:ahLst/>
            <a:cxnLst/>
            <a:rect l="l" t="t" r="r" b="b"/>
            <a:pathLst>
              <a:path w="1497002" h="1455834">
                <a:moveTo>
                  <a:pt x="0" y="0"/>
                </a:moveTo>
                <a:lnTo>
                  <a:pt x="1497002" y="0"/>
                </a:lnTo>
                <a:lnTo>
                  <a:pt x="1497002" y="1455835"/>
                </a:lnTo>
                <a:lnTo>
                  <a:pt x="0" y="1455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743200" y="3864877"/>
            <a:ext cx="7439544" cy="75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EC8888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Retention Strategy Framework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0DAAA1-993C-61F5-BFCF-3E57AEBD7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514" y="6891916"/>
            <a:ext cx="2733517" cy="18342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9478A7-D1CE-97B4-84FE-B6CE4B341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4440274" y="6891915"/>
            <a:ext cx="2733517" cy="18548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64EBF4C-09C0-31D1-8529-2C85C1C88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4034" y="6891915"/>
            <a:ext cx="2715482" cy="1854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29" name="Rectangle 1">
            <a:extLst>
              <a:ext uri="{FF2B5EF4-FFF2-40B4-BE49-F238E27FC236}">
                <a16:creationId xmlns:a16="http://schemas.microsoft.com/office/drawing/2014/main" id="{46FA627A-F218-17FD-BE2F-1A9950040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3421AF-4166-900C-88BA-CF07905BDB99}"/>
              </a:ext>
            </a:extLst>
          </p:cNvPr>
          <p:cNvSpPr/>
          <p:nvPr/>
        </p:nvSpPr>
        <p:spPr>
          <a:xfrm>
            <a:off x="11152530" y="4062285"/>
            <a:ext cx="5699575" cy="352986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67B08A1-EB7F-C2FD-63A1-F1A63E61E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4309" y="4389937"/>
            <a:ext cx="4980935" cy="2801776"/>
          </a:xfrm>
          <a:prstGeom prst="rect">
            <a:avLst/>
          </a:prstGeom>
          <a:effectLst>
            <a:glow rad="228600">
              <a:schemeClr val="bg1"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6798062" y="-1485900"/>
            <a:ext cx="13596124" cy="135961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2F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66800" y="71351"/>
            <a:ext cx="13147802" cy="1404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PROJECT DESCRIPTION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1294EB-D6A7-68A0-8BA8-4A94E1389C0E}"/>
              </a:ext>
            </a:extLst>
          </p:cNvPr>
          <p:cNvSpPr txBox="1"/>
          <p:nvPr/>
        </p:nvSpPr>
        <p:spPr>
          <a:xfrm>
            <a:off x="1905000" y="2221279"/>
            <a:ext cx="13296274" cy="1486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 retention is a critical success factor in banking, as losing customers directly impacts revenue, deposits, and long-term profitability. Analysis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10,000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revealed a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20.37%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churn rate, with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2,037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exiting, highlighting a significant retention challenge concentrated within specific customer segments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30C549-D6A1-AC92-BE7E-6056B1FA0246}"/>
              </a:ext>
            </a:extLst>
          </p:cNvPr>
          <p:cNvSpPr txBox="1"/>
          <p:nvPr/>
        </p:nvSpPr>
        <p:spPr>
          <a:xfrm>
            <a:off x="1905000" y="3945466"/>
            <a:ext cx="12546766" cy="181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This project leverages customer demographic, financial, and behavioral data to identify key churn drivers and high-risk groups. The analysis found that Germany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32.4%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churn), customers aged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50+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44.6%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churn), and inactive members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26.9%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churn) represent the most vulnerable segments. These insights provide a data-driven foundation for targeted retention strategies and improved business decision-making.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07C43E4-45DE-93B9-41AC-2B80DD185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497001"/>
              </p:ext>
            </p:extLst>
          </p:nvPr>
        </p:nvGraphicFramePr>
        <p:xfrm>
          <a:off x="3790637" y="6134100"/>
          <a:ext cx="9525000" cy="3119416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672841">
                  <a:extLst>
                    <a:ext uri="{9D8B030D-6E8A-4147-A177-3AD203B41FA5}">
                      <a16:colId xmlns:a16="http://schemas.microsoft.com/office/drawing/2014/main" val="3145303378"/>
                    </a:ext>
                  </a:extLst>
                </a:gridCol>
                <a:gridCol w="5852159">
                  <a:extLst>
                    <a:ext uri="{9D8B030D-6E8A-4147-A177-3AD203B41FA5}">
                      <a16:colId xmlns:a16="http://schemas.microsoft.com/office/drawing/2014/main" val="4115625773"/>
                    </a:ext>
                  </a:extLst>
                </a:gridCol>
              </a:tblGrid>
              <a:tr h="60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effectLst/>
                        </a:rPr>
                        <a:t>Project Type</a:t>
                      </a:r>
                      <a:endParaRPr lang="en-US" sz="32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</a:rPr>
                        <a:t>BANK CUSTOMER CHURN ANALYSIS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00456995"/>
                  </a:ext>
                </a:extLst>
              </a:tr>
              <a:tr h="952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effectLst/>
                        </a:rPr>
                        <a:t>Domain</a:t>
                      </a:r>
                      <a:endParaRPr lang="en-US" sz="32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Banking &amp; Financial Services — Customer Analytics</a:t>
                      </a:r>
                      <a:endParaRPr lang="en-US" sz="3200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03092613"/>
                  </a:ext>
                </a:extLst>
              </a:tr>
              <a:tr h="60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effectLst/>
                        </a:rPr>
                        <a:t>Tools Used</a:t>
                      </a:r>
                      <a:endParaRPr lang="en-US" sz="32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Excel, SQL, Power BI</a:t>
                      </a:r>
                      <a:endParaRPr lang="en-US" sz="3200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62031702"/>
                  </a:ext>
                </a:extLst>
              </a:tr>
              <a:tr h="952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effectLst/>
                        </a:rPr>
                        <a:t>Dataset Size</a:t>
                      </a:r>
                      <a:endParaRPr lang="en-US" sz="32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10,000</a:t>
                      </a:r>
                      <a:r>
                        <a:rPr lang="en-US" sz="2800" dirty="0">
                          <a:effectLst/>
                        </a:rPr>
                        <a:t> Customer Records | 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7</a:t>
                      </a:r>
                      <a:r>
                        <a:rPr lang="en-US" sz="2800" dirty="0">
                          <a:effectLst/>
                        </a:rPr>
                        <a:t> Relational Tables</a:t>
                      </a:r>
                      <a:endParaRPr lang="en-US" sz="3200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243225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0" y="0"/>
            <a:ext cx="11046851" cy="10287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295400" y="252210"/>
            <a:ext cx="10901658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TABLE OF CONTENT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200" y="1902311"/>
            <a:ext cx="9982200" cy="8113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 algn="l">
              <a:lnSpc>
                <a:spcPts val="5320"/>
              </a:lnSpc>
              <a:buAutoNum type="arabicPeriod"/>
            </a:pPr>
            <a:r>
              <a:rPr lang="en-US" sz="3600" dirty="0">
                <a:latin typeface="Canva Sans" panose="020B0604020202020204" charset="0"/>
                <a:ea typeface="Darker Grotesque Medium"/>
                <a:cs typeface="Poppins" panose="00000500000000000000" pitchFamily="2" charset="0"/>
                <a:sym typeface="Darker Grotesque Medium"/>
              </a:rPr>
              <a:t>EXECUTIVE SUMMARY.</a:t>
            </a:r>
          </a:p>
          <a:p>
            <a:pPr marL="742950" indent="-742950" algn="l">
              <a:lnSpc>
                <a:spcPts val="5320"/>
              </a:lnSpc>
              <a:buAutoNum type="arabicPeriod"/>
            </a:pPr>
            <a:r>
              <a:rPr lang="en-US" sz="3600" dirty="0">
                <a:latin typeface="Canva Sans" panose="020B0604020202020204" charset="0"/>
                <a:ea typeface="Darker Grotesque Medium"/>
                <a:cs typeface="Poppins" panose="00000500000000000000" pitchFamily="2" charset="0"/>
                <a:sym typeface="Darker Grotesque Medium"/>
              </a:rPr>
              <a:t>PROBLEM STATEMENT.</a:t>
            </a:r>
          </a:p>
          <a:p>
            <a:pPr marL="742950" indent="-742950" algn="l">
              <a:lnSpc>
                <a:spcPts val="5320"/>
              </a:lnSpc>
              <a:buAutoNum type="arabicPeriod"/>
            </a:pPr>
            <a:r>
              <a:rPr lang="en-US" sz="3600" dirty="0">
                <a:latin typeface="Canva Sans" panose="020B0604020202020204" charset="0"/>
                <a:ea typeface="Darker Grotesque Medium"/>
                <a:cs typeface="Poppins" panose="00000500000000000000" pitchFamily="2" charset="0"/>
                <a:sym typeface="Darker Grotesque Medium"/>
              </a:rPr>
              <a:t>PROJECT OBJECTIVES.</a:t>
            </a:r>
          </a:p>
          <a:p>
            <a:pPr marL="742950" indent="-742950" algn="l">
              <a:lnSpc>
                <a:spcPts val="5320"/>
              </a:lnSpc>
              <a:buAutoNum type="arabicPeriod"/>
            </a:pPr>
            <a:r>
              <a:rPr lang="en-US" sz="3600" dirty="0">
                <a:latin typeface="Canva Sans" panose="020B0604020202020204" charset="0"/>
                <a:ea typeface="Darker Grotesque Medium"/>
                <a:cs typeface="Poppins" panose="00000500000000000000" pitchFamily="2" charset="0"/>
                <a:sym typeface="Darker Grotesque Medium"/>
              </a:rPr>
              <a:t>STRATEGIC FINDINGS.</a:t>
            </a:r>
          </a:p>
          <a:p>
            <a:pPr marL="742950" indent="-742950" algn="l">
              <a:lnSpc>
                <a:spcPts val="5320"/>
              </a:lnSpc>
              <a:buAutoNum type="arabicPeriod"/>
            </a:pPr>
            <a:r>
              <a:rPr lang="en-US" sz="3600" dirty="0">
                <a:latin typeface="Canva Sans" panose="020B0604020202020204" charset="0"/>
                <a:ea typeface="Darker Grotesque Medium"/>
                <a:cs typeface="Poppins" panose="00000500000000000000" pitchFamily="2" charset="0"/>
                <a:sym typeface="Darker Grotesque Medium"/>
              </a:rPr>
              <a:t>DATASET OVERVIEW.</a:t>
            </a:r>
          </a:p>
          <a:p>
            <a:pPr marL="742950" indent="-742950" algn="l">
              <a:lnSpc>
                <a:spcPts val="5320"/>
              </a:lnSpc>
              <a:buAutoNum type="arabicPeriod"/>
            </a:pPr>
            <a:r>
              <a:rPr lang="en-US" sz="3600" dirty="0">
                <a:latin typeface="Canva Sans" panose="020B0604020202020204" charset="0"/>
                <a:ea typeface="Darker Grotesque Medium"/>
                <a:cs typeface="Poppins" panose="00000500000000000000" pitchFamily="2" charset="0"/>
                <a:sym typeface="Darker Grotesque Medium"/>
              </a:rPr>
              <a:t>KEY FINDINGS &amp; INSIGHTS.</a:t>
            </a:r>
          </a:p>
          <a:p>
            <a:pPr marL="742950" indent="-742950" algn="l">
              <a:lnSpc>
                <a:spcPts val="5320"/>
              </a:lnSpc>
              <a:buAutoNum type="arabicPeriod"/>
            </a:pPr>
            <a:r>
              <a:rPr lang="en-US" sz="3600" dirty="0">
                <a:latin typeface="Canva Sans" panose="020B0604020202020204" charset="0"/>
                <a:ea typeface="Darker Grotesque Medium"/>
                <a:cs typeface="Poppins" panose="00000500000000000000" pitchFamily="2" charset="0"/>
                <a:sym typeface="Darker Grotesque Medium"/>
              </a:rPr>
              <a:t>ANALYTICAL APPROACH &amp; METHODOLOGY.</a:t>
            </a:r>
          </a:p>
          <a:p>
            <a:pPr marL="742950" indent="-742950" algn="l">
              <a:lnSpc>
                <a:spcPts val="5320"/>
              </a:lnSpc>
              <a:buAutoNum type="arabicPeriod"/>
            </a:pPr>
            <a:r>
              <a:rPr lang="en-US" sz="3600" dirty="0">
                <a:latin typeface="Canva Sans" panose="020B0604020202020204" charset="0"/>
                <a:ea typeface="Darker Grotesque Medium"/>
                <a:cs typeface="Poppins" panose="00000500000000000000" pitchFamily="2" charset="0"/>
                <a:sym typeface="Darker Grotesque Medium"/>
              </a:rPr>
              <a:t>STRATEGIC RECOMMENDATION.</a:t>
            </a:r>
          </a:p>
          <a:p>
            <a:pPr marL="742950" indent="-742950" algn="l">
              <a:lnSpc>
                <a:spcPts val="5320"/>
              </a:lnSpc>
              <a:buAutoNum type="arabicPeriod"/>
            </a:pPr>
            <a:r>
              <a:rPr lang="en-US" sz="3600" dirty="0">
                <a:latin typeface="Canva Sans" panose="020B0604020202020204" charset="0"/>
                <a:ea typeface="Darker Grotesque Medium"/>
                <a:cs typeface="Poppins" panose="00000500000000000000" pitchFamily="2" charset="0"/>
                <a:sym typeface="Darker Grotesque Medium"/>
              </a:rPr>
              <a:t>CONCLUSION</a:t>
            </a:r>
            <a:r>
              <a:rPr lang="en-US" sz="4400" dirty="0">
                <a:latin typeface="Canva Sans" panose="020B0604020202020204" charset="0"/>
                <a:ea typeface="Darker Grotesque Medium"/>
                <a:cs typeface="Poppins" panose="00000500000000000000" pitchFamily="2" charset="0"/>
                <a:sym typeface="Darker Grotesque Medium"/>
              </a:rPr>
              <a:t>.</a:t>
            </a:r>
          </a:p>
          <a:p>
            <a:pPr marL="742950" indent="-742950" algn="l">
              <a:lnSpc>
                <a:spcPts val="5320"/>
              </a:lnSpc>
              <a:buAutoNum type="arabicPeriod"/>
            </a:pPr>
            <a:endParaRPr lang="en-US" sz="3800" b="1"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marL="742950" indent="-742950" algn="l">
              <a:lnSpc>
                <a:spcPts val="5320"/>
              </a:lnSpc>
              <a:buAutoNum type="arabicPeriod"/>
            </a:pPr>
            <a:endParaRPr lang="en-US" sz="3800" b="1"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EB104D-BB50-956C-7265-187A151FD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7058" y="2552700"/>
            <a:ext cx="4906509" cy="49289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59156"/>
            <a:ext cx="13335000" cy="1991032"/>
            <a:chOff x="0" y="0"/>
            <a:chExt cx="672905" cy="1598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905" cy="159846"/>
            </a:xfrm>
            <a:custGeom>
              <a:avLst/>
              <a:gdLst/>
              <a:ahLst/>
              <a:cxnLst/>
              <a:rect l="l" t="t" r="r" b="b"/>
              <a:pathLst>
                <a:path w="672905" h="159846">
                  <a:moveTo>
                    <a:pt x="79923" y="0"/>
                  </a:moveTo>
                  <a:lnTo>
                    <a:pt x="592982" y="0"/>
                  </a:lnTo>
                  <a:cubicBezTo>
                    <a:pt x="614179" y="0"/>
                    <a:pt x="634507" y="8420"/>
                    <a:pt x="649496" y="23409"/>
                  </a:cubicBezTo>
                  <a:cubicBezTo>
                    <a:pt x="664484" y="38397"/>
                    <a:pt x="672905" y="58726"/>
                    <a:pt x="672905" y="79923"/>
                  </a:cubicBezTo>
                  <a:lnTo>
                    <a:pt x="672905" y="79923"/>
                  </a:lnTo>
                  <a:cubicBezTo>
                    <a:pt x="672905" y="124063"/>
                    <a:pt x="637122" y="159846"/>
                    <a:pt x="592982" y="159846"/>
                  </a:cubicBezTo>
                  <a:lnTo>
                    <a:pt x="79923" y="159846"/>
                  </a:lnTo>
                  <a:cubicBezTo>
                    <a:pt x="58726" y="159846"/>
                    <a:pt x="38397" y="151425"/>
                    <a:pt x="23409" y="136437"/>
                  </a:cubicBezTo>
                  <a:cubicBezTo>
                    <a:pt x="8420" y="121448"/>
                    <a:pt x="0" y="101120"/>
                    <a:pt x="0" y="79923"/>
                  </a:cubicBezTo>
                  <a:lnTo>
                    <a:pt x="0" y="79923"/>
                  </a:lnTo>
                  <a:cubicBezTo>
                    <a:pt x="0" y="58726"/>
                    <a:pt x="8420" y="38397"/>
                    <a:pt x="23409" y="23409"/>
                  </a:cubicBezTo>
                  <a:cubicBezTo>
                    <a:pt x="38397" y="8420"/>
                    <a:pt x="58726" y="0"/>
                    <a:pt x="79923" y="0"/>
                  </a:cubicBezTo>
                  <a:close/>
                </a:path>
              </a:pathLst>
            </a:custGeom>
            <a:solidFill>
              <a:srgbClr val="EEE2F7">
                <a:alpha val="8000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72905" cy="197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25173" y="671179"/>
            <a:ext cx="11495428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EXECUTIVE SUMMARY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D6388A-A401-F9F6-D1DA-86F726FBC262}"/>
              </a:ext>
            </a:extLst>
          </p:cNvPr>
          <p:cNvSpPr txBox="1"/>
          <p:nvPr/>
        </p:nvSpPr>
        <p:spPr>
          <a:xfrm>
            <a:off x="925173" y="2724759"/>
            <a:ext cx="9144000" cy="259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Analysis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10,000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identified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2,037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churned customers, resulting in a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20.37%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 rate, while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7,963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79.63%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 were retained. Churn peaked at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22.35%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before improving to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19.86%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2019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indicating progress but persistent retention challenges. The highest-risk segment is female customers aged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50+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in Germany, with a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67.0%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 rate, while inactivity and single-product ownership further elevate churn risk.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09FBFA-58E8-0809-1882-3209FFED5BF4}"/>
              </a:ext>
            </a:extLst>
          </p:cNvPr>
          <p:cNvSpPr txBox="1"/>
          <p:nvPr/>
        </p:nvSpPr>
        <p:spPr>
          <a:xfrm>
            <a:off x="952500" y="5587859"/>
            <a:ext cx="9144000" cy="2511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Germany records the highest churn rate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32.4%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 and highest average customer balance (</a:t>
            </a:r>
            <a:r>
              <a:rPr lang="en-US" sz="213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$120,361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making it the most critical retention market. Key opportunities include cross-selling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5,084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single-product customers and reactivating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3,547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inactive customers. Targeted interventions across these segments can significantly reduce churn and strengthen long-term customer value.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8B88FC-A49A-FD0E-C06E-B4A1EEB29983}"/>
              </a:ext>
            </a:extLst>
          </p:cNvPr>
          <p:cNvSpPr/>
          <p:nvPr/>
        </p:nvSpPr>
        <p:spPr>
          <a:xfrm>
            <a:off x="762000" y="2476500"/>
            <a:ext cx="9525000" cy="655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F11137A2-D654-C82E-998C-31D78EF2E985}"/>
              </a:ext>
            </a:extLst>
          </p:cNvPr>
          <p:cNvSpPr/>
          <p:nvPr/>
        </p:nvSpPr>
        <p:spPr>
          <a:xfrm>
            <a:off x="10896600" y="2250188"/>
            <a:ext cx="6629400" cy="2667000"/>
          </a:xfrm>
          <a:custGeom>
            <a:avLst/>
            <a:gdLst/>
            <a:ahLst/>
            <a:cxnLst/>
            <a:rect l="l" t="t" r="r" b="b"/>
            <a:pathLst>
              <a:path w="6506145" h="2774636">
                <a:moveTo>
                  <a:pt x="0" y="0"/>
                </a:moveTo>
                <a:lnTo>
                  <a:pt x="6506144" y="0"/>
                </a:lnTo>
                <a:lnTo>
                  <a:pt x="6506144" y="2774637"/>
                </a:lnTo>
                <a:lnTo>
                  <a:pt x="0" y="27746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3701" b="-43066"/>
            </a:stretch>
          </a:blipFill>
        </p:spPr>
        <p:txBody>
          <a:bodyPr/>
          <a:lstStyle/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       </a:t>
            </a:r>
          </a:p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    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52CFCF-B774-1285-F18A-954C2C62F66B}"/>
              </a:ext>
            </a:extLst>
          </p:cNvPr>
          <p:cNvSpPr txBox="1"/>
          <p:nvPr/>
        </p:nvSpPr>
        <p:spPr>
          <a:xfrm>
            <a:off x="11127187" y="2488418"/>
            <a:ext cx="6722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PRIMARY OBJECTIVE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3ADD30-B171-78C9-6E77-219BAA57A74C}"/>
              </a:ext>
            </a:extLst>
          </p:cNvPr>
          <p:cNvSpPr txBox="1"/>
          <p:nvPr/>
        </p:nvSpPr>
        <p:spPr>
          <a:xfrm>
            <a:off x="11276659" y="3417031"/>
            <a:ext cx="62616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Reduce Customer Churn Through Data-Driven Retention Strategies.</a:t>
            </a: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DE7C086F-C3A6-826F-7CCA-5923DBF81A56}"/>
              </a:ext>
            </a:extLst>
          </p:cNvPr>
          <p:cNvSpPr/>
          <p:nvPr/>
        </p:nvSpPr>
        <p:spPr>
          <a:xfrm>
            <a:off x="11216147" y="5022879"/>
            <a:ext cx="6322143" cy="2359912"/>
          </a:xfrm>
          <a:custGeom>
            <a:avLst/>
            <a:gdLst/>
            <a:ahLst/>
            <a:cxnLst/>
            <a:rect l="l" t="t" r="r" b="b"/>
            <a:pathLst>
              <a:path w="6506145" h="2774636">
                <a:moveTo>
                  <a:pt x="0" y="0"/>
                </a:moveTo>
                <a:lnTo>
                  <a:pt x="6506144" y="0"/>
                </a:lnTo>
                <a:lnTo>
                  <a:pt x="6506144" y="2774636"/>
                </a:lnTo>
                <a:lnTo>
                  <a:pt x="0" y="27746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4F1C97-FC42-68C3-FA13-9ECC9F99A0E5}"/>
              </a:ext>
            </a:extLst>
          </p:cNvPr>
          <p:cNvSpPr txBox="1"/>
          <p:nvPr/>
        </p:nvSpPr>
        <p:spPr>
          <a:xfrm>
            <a:off x="11890887" y="5155418"/>
            <a:ext cx="4640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CRITICAL RISK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1F71C8-9E6A-1B0D-85AE-DB70835BDA87}"/>
              </a:ext>
            </a:extLst>
          </p:cNvPr>
          <p:cNvSpPr txBox="1"/>
          <p:nvPr/>
        </p:nvSpPr>
        <p:spPr>
          <a:xfrm>
            <a:off x="11433974" y="6013479"/>
            <a:ext cx="64356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Germany-Based </a:t>
            </a:r>
            <a:r>
              <a:rPr lang="en-US" sz="28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50+</a:t>
            </a: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Female Customers (</a:t>
            </a:r>
            <a:r>
              <a:rPr lang="en-US" sz="28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67.0% </a:t>
            </a: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Churn Rate).</a:t>
            </a:r>
            <a:endParaRPr lang="en-US" sz="1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Freeform 3">
            <a:extLst>
              <a:ext uri="{FF2B5EF4-FFF2-40B4-BE49-F238E27FC236}">
                <a16:creationId xmlns:a16="http://schemas.microsoft.com/office/drawing/2014/main" id="{4AE2F122-3420-9AF9-1676-FB4038C583FC}"/>
              </a:ext>
            </a:extLst>
          </p:cNvPr>
          <p:cNvSpPr/>
          <p:nvPr/>
        </p:nvSpPr>
        <p:spPr>
          <a:xfrm>
            <a:off x="10908891" y="7515330"/>
            <a:ext cx="6629399" cy="2359912"/>
          </a:xfrm>
          <a:custGeom>
            <a:avLst/>
            <a:gdLst/>
            <a:ahLst/>
            <a:cxnLst/>
            <a:rect l="l" t="t" r="r" b="b"/>
            <a:pathLst>
              <a:path w="6506145" h="2496290">
                <a:moveTo>
                  <a:pt x="0" y="0"/>
                </a:moveTo>
                <a:lnTo>
                  <a:pt x="6506144" y="0"/>
                </a:lnTo>
                <a:lnTo>
                  <a:pt x="6506144" y="2496289"/>
                </a:lnTo>
                <a:lnTo>
                  <a:pt x="0" y="2496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150" r="-73701" b="-478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7D8388-0C42-583E-040F-C92E11F7B7EC}"/>
              </a:ext>
            </a:extLst>
          </p:cNvPr>
          <p:cNvSpPr txBox="1"/>
          <p:nvPr/>
        </p:nvSpPr>
        <p:spPr>
          <a:xfrm>
            <a:off x="11411852" y="7640114"/>
            <a:ext cx="59460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TOP OPPORTUNITY</a:t>
            </a:r>
            <a:endParaRPr lang="en-US" sz="2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44AAD9-EED4-116B-7A54-149DB8E0CC2F}"/>
              </a:ext>
            </a:extLst>
          </p:cNvPr>
          <p:cNvSpPr txBox="1"/>
          <p:nvPr/>
        </p:nvSpPr>
        <p:spPr>
          <a:xfrm>
            <a:off x="11434445" y="8552646"/>
            <a:ext cx="60812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Cross-Sell &amp; Reactivate High-Potential Customers.</a:t>
            </a:r>
            <a:endParaRPr lang="en-US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120909"/>
            <a:ext cx="12344400" cy="2033804"/>
            <a:chOff x="0" y="0"/>
            <a:chExt cx="672905" cy="1598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905" cy="159846"/>
            </a:xfrm>
            <a:custGeom>
              <a:avLst/>
              <a:gdLst/>
              <a:ahLst/>
              <a:cxnLst/>
              <a:rect l="l" t="t" r="r" b="b"/>
              <a:pathLst>
                <a:path w="672905" h="159846">
                  <a:moveTo>
                    <a:pt x="79923" y="0"/>
                  </a:moveTo>
                  <a:lnTo>
                    <a:pt x="592982" y="0"/>
                  </a:lnTo>
                  <a:cubicBezTo>
                    <a:pt x="614179" y="0"/>
                    <a:pt x="634507" y="8420"/>
                    <a:pt x="649496" y="23409"/>
                  </a:cubicBezTo>
                  <a:cubicBezTo>
                    <a:pt x="664484" y="38397"/>
                    <a:pt x="672905" y="58726"/>
                    <a:pt x="672905" y="79923"/>
                  </a:cubicBezTo>
                  <a:lnTo>
                    <a:pt x="672905" y="79923"/>
                  </a:lnTo>
                  <a:cubicBezTo>
                    <a:pt x="672905" y="124063"/>
                    <a:pt x="637122" y="159846"/>
                    <a:pt x="592982" y="159846"/>
                  </a:cubicBezTo>
                  <a:lnTo>
                    <a:pt x="79923" y="159846"/>
                  </a:lnTo>
                  <a:cubicBezTo>
                    <a:pt x="58726" y="159846"/>
                    <a:pt x="38397" y="151425"/>
                    <a:pt x="23409" y="136437"/>
                  </a:cubicBezTo>
                  <a:cubicBezTo>
                    <a:pt x="8420" y="121448"/>
                    <a:pt x="0" y="101120"/>
                    <a:pt x="0" y="79923"/>
                  </a:cubicBezTo>
                  <a:lnTo>
                    <a:pt x="0" y="79923"/>
                  </a:lnTo>
                  <a:cubicBezTo>
                    <a:pt x="0" y="58726"/>
                    <a:pt x="8420" y="38397"/>
                    <a:pt x="23409" y="23409"/>
                  </a:cubicBezTo>
                  <a:cubicBezTo>
                    <a:pt x="38397" y="8420"/>
                    <a:pt x="58726" y="0"/>
                    <a:pt x="79923" y="0"/>
                  </a:cubicBezTo>
                  <a:close/>
                </a:path>
              </a:pathLst>
            </a:custGeom>
            <a:solidFill>
              <a:srgbClr val="EEE2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72905" cy="197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3400" y="554318"/>
            <a:ext cx="11256021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Problem</a:t>
            </a:r>
            <a:r>
              <a:rPr lang="en-US" sz="6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</a:t>
            </a: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314632" y="2826462"/>
            <a:ext cx="533400" cy="348089"/>
          </a:xfrm>
          <a:custGeom>
            <a:avLst/>
            <a:gdLst/>
            <a:ahLst/>
            <a:cxnLst/>
            <a:rect l="l" t="t" r="r" b="b"/>
            <a:pathLst>
              <a:path w="1126007" h="729089">
                <a:moveTo>
                  <a:pt x="0" y="0"/>
                </a:moveTo>
                <a:lnTo>
                  <a:pt x="1126006" y="0"/>
                </a:lnTo>
                <a:lnTo>
                  <a:pt x="1126006" y="729089"/>
                </a:lnTo>
                <a:lnTo>
                  <a:pt x="0" y="729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F0BDBA-6ED6-124F-5578-646DA5026F45}"/>
              </a:ext>
            </a:extLst>
          </p:cNvPr>
          <p:cNvSpPr txBox="1"/>
          <p:nvPr/>
        </p:nvSpPr>
        <p:spPr>
          <a:xfrm>
            <a:off x="973607" y="2648082"/>
            <a:ext cx="123444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Despite strong customer acquisition growth, the organization continues to experience significant customer attrition, with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2,037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leaving and an overall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20.37%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 rate, reducing the long-term value generated from new customer acquisition.</a:t>
            </a: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016A5A86-A365-C2CF-2E79-485D0126A33C}"/>
              </a:ext>
            </a:extLst>
          </p:cNvPr>
          <p:cNvSpPr/>
          <p:nvPr/>
        </p:nvSpPr>
        <p:spPr>
          <a:xfrm>
            <a:off x="322267" y="4189909"/>
            <a:ext cx="533400" cy="348089"/>
          </a:xfrm>
          <a:custGeom>
            <a:avLst/>
            <a:gdLst/>
            <a:ahLst/>
            <a:cxnLst/>
            <a:rect l="l" t="t" r="r" b="b"/>
            <a:pathLst>
              <a:path w="1126007" h="729089">
                <a:moveTo>
                  <a:pt x="0" y="0"/>
                </a:moveTo>
                <a:lnTo>
                  <a:pt x="1126006" y="0"/>
                </a:lnTo>
                <a:lnTo>
                  <a:pt x="1126006" y="729089"/>
                </a:lnTo>
                <a:lnTo>
                  <a:pt x="0" y="729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F5D3C310-51D0-6F9D-0466-F1DA19083F0A}"/>
              </a:ext>
            </a:extLst>
          </p:cNvPr>
          <p:cNvSpPr/>
          <p:nvPr/>
        </p:nvSpPr>
        <p:spPr>
          <a:xfrm>
            <a:off x="344129" y="5594696"/>
            <a:ext cx="533400" cy="348089"/>
          </a:xfrm>
          <a:custGeom>
            <a:avLst/>
            <a:gdLst/>
            <a:ahLst/>
            <a:cxnLst/>
            <a:rect l="l" t="t" r="r" b="b"/>
            <a:pathLst>
              <a:path w="1126007" h="729089">
                <a:moveTo>
                  <a:pt x="0" y="0"/>
                </a:moveTo>
                <a:lnTo>
                  <a:pt x="1126006" y="0"/>
                </a:lnTo>
                <a:lnTo>
                  <a:pt x="1126006" y="729089"/>
                </a:lnTo>
                <a:lnTo>
                  <a:pt x="0" y="729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B52264-8AAC-A14A-7FE2-60D9B3D41370}"/>
              </a:ext>
            </a:extLst>
          </p:cNvPr>
          <p:cNvSpPr txBox="1"/>
          <p:nvPr/>
        </p:nvSpPr>
        <p:spPr>
          <a:xfrm>
            <a:off x="973606" y="4021449"/>
            <a:ext cx="123444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The business is not only losing customers but also losing valuable relationships, as churned customers maintain an average balance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$91K+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while high-risk segments such as Germany-based and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50+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exhibit exceptionally high churn rates.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4D3A5F-6D21-8C4D-DB8D-E2BACDB49730}"/>
              </a:ext>
            </a:extLst>
          </p:cNvPr>
          <p:cNvSpPr txBox="1"/>
          <p:nvPr/>
        </p:nvSpPr>
        <p:spPr>
          <a:xfrm>
            <a:off x="973606" y="5436366"/>
            <a:ext cx="123444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Limited product engagement and customer inactivity are emerging as major warning signs, with single-product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27.7%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churn) and inactive members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26.9%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churn) significantly more likely to leave than engaged customers.</a:t>
            </a:r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C1B8427A-DE0F-4562-9AE5-FBF145938B9E}"/>
              </a:ext>
            </a:extLst>
          </p:cNvPr>
          <p:cNvSpPr/>
          <p:nvPr/>
        </p:nvSpPr>
        <p:spPr>
          <a:xfrm>
            <a:off x="314632" y="6916804"/>
            <a:ext cx="533400" cy="348089"/>
          </a:xfrm>
          <a:custGeom>
            <a:avLst/>
            <a:gdLst/>
            <a:ahLst/>
            <a:cxnLst/>
            <a:rect l="l" t="t" r="r" b="b"/>
            <a:pathLst>
              <a:path w="1126007" h="729089">
                <a:moveTo>
                  <a:pt x="0" y="0"/>
                </a:moveTo>
                <a:lnTo>
                  <a:pt x="1126006" y="0"/>
                </a:lnTo>
                <a:lnTo>
                  <a:pt x="1126006" y="729089"/>
                </a:lnTo>
                <a:lnTo>
                  <a:pt x="0" y="729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117E4C-C619-773C-67A4-37C60C2BF851}"/>
              </a:ext>
            </a:extLst>
          </p:cNvPr>
          <p:cNvSpPr txBox="1"/>
          <p:nvPr/>
        </p:nvSpPr>
        <p:spPr>
          <a:xfrm>
            <a:off x="973606" y="6809733"/>
            <a:ext cx="12344400" cy="107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To protect profitability and future growth, the organization needs a data-driven framework to identify high-risk customers early, understand the key drivers of churn, and implement targeted retention strategies before customers decide to leave.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FA744EE-E934-7A7C-E7FD-279DC761C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4083" y="2542322"/>
            <a:ext cx="4284950" cy="5115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90800" y="-9715500"/>
            <a:ext cx="13596124" cy="135961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2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57200" y="571500"/>
            <a:ext cx="12253672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PROJECT OBJECTIVES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3066F9-E936-7A82-20C8-43877136C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43347" y="3234702"/>
            <a:ext cx="4907705" cy="43529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1E27EF-6904-E77B-E34D-5CD4C2767DE8}"/>
              </a:ext>
            </a:extLst>
          </p:cNvPr>
          <p:cNvSpPr txBox="1"/>
          <p:nvPr/>
        </p:nvSpPr>
        <p:spPr>
          <a:xfrm>
            <a:off x="626672" y="3409513"/>
            <a:ext cx="81853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&gt; Customer Churn &amp; Risk Assessment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30EA4E-6776-0569-939F-8CB2218F9305}"/>
              </a:ext>
            </a:extLst>
          </p:cNvPr>
          <p:cNvSpPr txBox="1"/>
          <p:nvPr/>
        </p:nvSpPr>
        <p:spPr>
          <a:xfrm>
            <a:off x="685800" y="4441993"/>
            <a:ext cx="11506200" cy="3559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Churn Performance Assessment</a:t>
            </a:r>
            <a:b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• Measure overall customer attrition by analyzing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10,000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customers, including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2,037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exited customers, to establish baseline churn performance and yearly trends from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2016–2019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endParaRPr lang="en-US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2. High-Risk Customer Identification</a:t>
            </a:r>
            <a:b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• Identify customer segments contributing most to churn, including Germany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32.4%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churn), customers aged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50+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44.6%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churn), and female customers in Germany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67.0%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3EE5-4DA9-D5A3-61B6-485C5920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14881C4-0D97-E7C9-4E32-8808839EEA81}"/>
              </a:ext>
            </a:extLst>
          </p:cNvPr>
          <p:cNvGrpSpPr/>
          <p:nvPr/>
        </p:nvGrpSpPr>
        <p:grpSpPr>
          <a:xfrm>
            <a:off x="2083869" y="-9258300"/>
            <a:ext cx="13596124" cy="13596124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45A4B3-F10B-38E3-7D41-73E3675E0DD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2F7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4A0749D-8106-14E4-D761-29620D3B990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AE843F7-5EC7-1787-A85F-F1866C8CB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43347" y="3234702"/>
            <a:ext cx="4907705" cy="43529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24A8CB-0489-28C6-E98C-A38B880BB2CA}"/>
              </a:ext>
            </a:extLst>
          </p:cNvPr>
          <p:cNvSpPr txBox="1"/>
          <p:nvPr/>
        </p:nvSpPr>
        <p:spPr>
          <a:xfrm>
            <a:off x="384683" y="647700"/>
            <a:ext cx="89473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&gt; Customer &amp; Financial Impact Analysis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AEE24-DC68-81C7-39F9-7E31A1C6E05F}"/>
              </a:ext>
            </a:extLst>
          </p:cNvPr>
          <p:cNvSpPr txBox="1"/>
          <p:nvPr/>
        </p:nvSpPr>
        <p:spPr>
          <a:xfrm>
            <a:off x="685800" y="1603337"/>
            <a:ext cx="11430000" cy="345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3. Financial Exposure Quantification</a:t>
            </a:r>
            <a:b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• Assess the financial impact of churn by evaluating customer balances, where churned customers maintain an average balance exceeding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$91K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compared to </a:t>
            </a:r>
            <a:r>
              <a:rPr lang="en-US" sz="213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$73K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for retained customers.</a:t>
            </a:r>
          </a:p>
          <a:p>
            <a:pPr>
              <a:buNone/>
            </a:pPr>
            <a:endParaRPr lang="en-US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4. Churn Driver Analysis</a:t>
            </a:r>
            <a:b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• Analyze key churn drivers across geography, age, activity status, and product ownership, including inactive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26.9%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churn) and single-product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27.7%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D48DA-EC29-2A46-622C-6E7D86404E37}"/>
              </a:ext>
            </a:extLst>
          </p:cNvPr>
          <p:cNvSpPr txBox="1"/>
          <p:nvPr/>
        </p:nvSpPr>
        <p:spPr>
          <a:xfrm>
            <a:off x="472654" y="5435136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&gt; Strategic Decision-Making Framework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D3CE3-14E4-E696-2FCC-97F1624E9EC7}"/>
              </a:ext>
            </a:extLst>
          </p:cNvPr>
          <p:cNvSpPr txBox="1"/>
          <p:nvPr/>
        </p:nvSpPr>
        <p:spPr>
          <a:xfrm>
            <a:off x="690716" y="6269147"/>
            <a:ext cx="11425084" cy="347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5. Risk Segmentation &amp; Scoring</a:t>
            </a:r>
            <a:b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• Develop a customer risk framework to classify and prioritize high-risk customers, enabling proactive intervention across the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2,521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 identified within high-risk segments.</a:t>
            </a:r>
          </a:p>
          <a:p>
            <a:pPr>
              <a:buNone/>
            </a:pPr>
            <a:endParaRPr lang="en-US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6. Strategic Retention Framework Development</a:t>
            </a:r>
            <a:b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• Design a phased retention strategy targeting key opportunities, including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5,084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single-product customers and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3,547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inactive retained customers, to reduce preventable churn and strengthen customer loyalty.</a:t>
            </a:r>
          </a:p>
        </p:txBody>
      </p:sp>
    </p:spTree>
    <p:extLst>
      <p:ext uri="{BB962C8B-B14F-4D97-AF65-F5344CB8AC3E}">
        <p14:creationId xmlns:p14="http://schemas.microsoft.com/office/powerpoint/2010/main" val="505936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90600" y="613120"/>
            <a:ext cx="117061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STRATEGIC FINDINGS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3401" y="2604773"/>
            <a:ext cx="457199" cy="4051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D5A540A-B25E-CF3A-99BB-4097A5F2C91F}"/>
              </a:ext>
            </a:extLst>
          </p:cNvPr>
          <p:cNvSpPr txBox="1"/>
          <p:nvPr/>
        </p:nvSpPr>
        <p:spPr>
          <a:xfrm>
            <a:off x="1254410" y="2514948"/>
            <a:ext cx="12801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Geographic Churn Concentration: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BE9902-DF14-12AF-61D8-797C572C50E6}"/>
              </a:ext>
            </a:extLst>
          </p:cNvPr>
          <p:cNvSpPr txBox="1"/>
          <p:nvPr/>
        </p:nvSpPr>
        <p:spPr>
          <a:xfrm>
            <a:off x="1251952" y="3336214"/>
            <a:ext cx="125377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Germany records a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32.4%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 rate, significantly higher than France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16.2%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 and Spain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16.7%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while churned customers maintain an average balance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$120,361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516A51-E4C3-130A-1251-F9C108B9A4D7}"/>
              </a:ext>
            </a:extLst>
          </p:cNvPr>
          <p:cNvSpPr txBox="1"/>
          <p:nvPr/>
        </p:nvSpPr>
        <p:spPr>
          <a:xfrm>
            <a:off x="1234746" y="4593182"/>
            <a:ext cx="10509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Demographic Risk Exposure:</a:t>
            </a:r>
          </a:p>
        </p:txBody>
      </p:sp>
      <p:grpSp>
        <p:nvGrpSpPr>
          <p:cNvPr id="18" name="Group 6">
            <a:extLst>
              <a:ext uri="{FF2B5EF4-FFF2-40B4-BE49-F238E27FC236}">
                <a16:creationId xmlns:a16="http://schemas.microsoft.com/office/drawing/2014/main" id="{BDA6A0E5-3807-16E8-21A9-D3A34A8E7034}"/>
              </a:ext>
            </a:extLst>
          </p:cNvPr>
          <p:cNvGrpSpPr/>
          <p:nvPr/>
        </p:nvGrpSpPr>
        <p:grpSpPr>
          <a:xfrm>
            <a:off x="576263" y="4639052"/>
            <a:ext cx="457199" cy="405127"/>
            <a:chOff x="0" y="0"/>
            <a:chExt cx="812800" cy="812800"/>
          </a:xfrm>
        </p:grpSpPr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79C5E96-4B7F-D5A6-79C6-4CB4E370701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</p:sp>
        <p:sp>
          <p:nvSpPr>
            <p:cNvPr id="20" name="TextBox 8">
              <a:extLst>
                <a:ext uri="{FF2B5EF4-FFF2-40B4-BE49-F238E27FC236}">
                  <a16:creationId xmlns:a16="http://schemas.microsoft.com/office/drawing/2014/main" id="{56A40592-8B16-1E33-3CC4-3E40B27C759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6">
            <a:extLst>
              <a:ext uri="{FF2B5EF4-FFF2-40B4-BE49-F238E27FC236}">
                <a16:creationId xmlns:a16="http://schemas.microsoft.com/office/drawing/2014/main" id="{25EEE658-A55A-76BD-BF0C-3DE965C0BF3B}"/>
              </a:ext>
            </a:extLst>
          </p:cNvPr>
          <p:cNvGrpSpPr/>
          <p:nvPr/>
        </p:nvGrpSpPr>
        <p:grpSpPr>
          <a:xfrm>
            <a:off x="619125" y="6671416"/>
            <a:ext cx="457199" cy="475959"/>
            <a:chOff x="41239" y="38100"/>
            <a:chExt cx="812800" cy="954910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F5F75350-9F7C-3AE5-5604-D14F4568C353}"/>
                </a:ext>
              </a:extLst>
            </p:cNvPr>
            <p:cNvSpPr/>
            <p:nvPr/>
          </p:nvSpPr>
          <p:spPr>
            <a:xfrm>
              <a:off x="41239" y="18021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6EF9BC93-BD82-F9DC-64B1-9EC6D22029F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73C658E-1061-40F8-FC15-05E1C894CD43}"/>
              </a:ext>
            </a:extLst>
          </p:cNvPr>
          <p:cNvSpPr txBox="1"/>
          <p:nvPr/>
        </p:nvSpPr>
        <p:spPr>
          <a:xfrm>
            <a:off x="1251952" y="5408549"/>
            <a:ext cx="125377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 aged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50+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exhibit a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44.6%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 rate, with Female customers aged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50+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in Germany reaching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67.0%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churn, making them the most vulnerable customer segment.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D105F8-7B8E-76FA-2090-28EAE52AA029}"/>
              </a:ext>
            </a:extLst>
          </p:cNvPr>
          <p:cNvSpPr txBox="1"/>
          <p:nvPr/>
        </p:nvSpPr>
        <p:spPr>
          <a:xfrm>
            <a:off x="1234746" y="6671416"/>
            <a:ext cx="1554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Product Engagement Effectiveness: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0969BE-FA74-075F-F085-A5DB1BE24219}"/>
              </a:ext>
            </a:extLst>
          </p:cNvPr>
          <p:cNvSpPr txBox="1"/>
          <p:nvPr/>
        </p:nvSpPr>
        <p:spPr>
          <a:xfrm>
            <a:off x="1234746" y="7480884"/>
            <a:ext cx="128065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 holding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product churn at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27.7%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compared to only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7.6%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for customers with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products, while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5,084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remain in the high-risk single-product category.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C2CC-EA50-AF01-2DF3-837DF4404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61FE71E5-60B0-CF79-B537-7B4B9E70ED18}"/>
              </a:ext>
            </a:extLst>
          </p:cNvPr>
          <p:cNvGrpSpPr/>
          <p:nvPr/>
        </p:nvGrpSpPr>
        <p:grpSpPr>
          <a:xfrm>
            <a:off x="489157" y="1880523"/>
            <a:ext cx="457199" cy="405127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4C274C7-F5D0-2A4A-BD19-95E812F0C8F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34BBC89-1843-4C8B-D9C8-CAF48C06698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6">
            <a:extLst>
              <a:ext uri="{FF2B5EF4-FFF2-40B4-BE49-F238E27FC236}">
                <a16:creationId xmlns:a16="http://schemas.microsoft.com/office/drawing/2014/main" id="{922E296B-2C9C-62CA-B5BE-3A3A4C391DC2}"/>
              </a:ext>
            </a:extLst>
          </p:cNvPr>
          <p:cNvGrpSpPr/>
          <p:nvPr/>
        </p:nvGrpSpPr>
        <p:grpSpPr>
          <a:xfrm>
            <a:off x="532019" y="3865631"/>
            <a:ext cx="457199" cy="405127"/>
            <a:chOff x="0" y="0"/>
            <a:chExt cx="812800" cy="812800"/>
          </a:xfrm>
        </p:grpSpPr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2E726DA5-7586-1833-6BD0-8CF541F858F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</p:sp>
        <p:sp>
          <p:nvSpPr>
            <p:cNvPr id="20" name="TextBox 8">
              <a:extLst>
                <a:ext uri="{FF2B5EF4-FFF2-40B4-BE49-F238E27FC236}">
                  <a16:creationId xmlns:a16="http://schemas.microsoft.com/office/drawing/2014/main" id="{781CA333-D4D7-758E-B06F-BC0A5FE9C22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6">
            <a:extLst>
              <a:ext uri="{FF2B5EF4-FFF2-40B4-BE49-F238E27FC236}">
                <a16:creationId xmlns:a16="http://schemas.microsoft.com/office/drawing/2014/main" id="{0DFE236F-33FE-C638-1860-AED613A3C9B6}"/>
              </a:ext>
            </a:extLst>
          </p:cNvPr>
          <p:cNvGrpSpPr/>
          <p:nvPr/>
        </p:nvGrpSpPr>
        <p:grpSpPr>
          <a:xfrm>
            <a:off x="570890" y="6131783"/>
            <a:ext cx="457199" cy="475959"/>
            <a:chOff x="41239" y="38100"/>
            <a:chExt cx="812800" cy="954910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11A86720-F706-A8DC-1883-57BF760FF0AE}"/>
                </a:ext>
              </a:extLst>
            </p:cNvPr>
            <p:cNvSpPr/>
            <p:nvPr/>
          </p:nvSpPr>
          <p:spPr>
            <a:xfrm>
              <a:off x="41239" y="18021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EE8FC016-CBA9-9604-F1D4-6FDB2720DE4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CA1263-5D6D-7A3A-8852-57CEF700B66E}"/>
              </a:ext>
            </a:extLst>
          </p:cNvPr>
          <p:cNvSpPr txBox="1"/>
          <p:nvPr/>
        </p:nvSpPr>
        <p:spPr>
          <a:xfrm>
            <a:off x="1447800" y="1790700"/>
            <a:ext cx="1082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Customer Activity Impact: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1937D-80B7-B35F-39B6-6ED089290B09}"/>
              </a:ext>
            </a:extLst>
          </p:cNvPr>
          <p:cNvSpPr txBox="1"/>
          <p:nvPr/>
        </p:nvSpPr>
        <p:spPr>
          <a:xfrm>
            <a:off x="1447800" y="2552700"/>
            <a:ext cx="1242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Inactive customers churn at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26.9%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nearly double the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14.3%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 rate of active customers, with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3,547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inactive retained customers representing future churn exposure.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2BC1E4-2E58-45F6-7406-151187ED9F58}"/>
              </a:ext>
            </a:extLst>
          </p:cNvPr>
          <p:cNvSpPr txBox="1"/>
          <p:nvPr/>
        </p:nvSpPr>
        <p:spPr>
          <a:xfrm>
            <a:off x="1474838" y="3799598"/>
            <a:ext cx="13944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Customer Value Vulnerability: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FDC9E-DBCE-A92D-5D56-6201B8057984}"/>
              </a:ext>
            </a:extLst>
          </p:cNvPr>
          <p:cNvSpPr txBox="1"/>
          <p:nvPr/>
        </p:nvSpPr>
        <p:spPr>
          <a:xfrm>
            <a:off x="1447800" y="4572492"/>
            <a:ext cx="12393561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Churned customers maintain an average balance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$91K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compared to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$73K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for retained customers, indicating that higher-value relationships are disproportionately being lost.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17B34F-109B-492B-90CC-CFC9831C3A22}"/>
              </a:ext>
            </a:extLst>
          </p:cNvPr>
          <p:cNvSpPr txBox="1"/>
          <p:nvPr/>
        </p:nvSpPr>
        <p:spPr>
          <a:xfrm>
            <a:off x="1447800" y="6131783"/>
            <a:ext cx="1082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Predictive Risk Segmentation: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D1E047-B676-AB6F-E89B-EF283C88BEFB}"/>
              </a:ext>
            </a:extLst>
          </p:cNvPr>
          <p:cNvSpPr txBox="1"/>
          <p:nvPr/>
        </p:nvSpPr>
        <p:spPr>
          <a:xfrm>
            <a:off x="1474838" y="6899565"/>
            <a:ext cx="12378813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The High-Risk customer segment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2,521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customers) records a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36.7%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 rate, compared to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11.6%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for Low-Risk customers, validating the effectiveness of the risk assessment framework.</a:t>
            </a:r>
          </a:p>
        </p:txBody>
      </p:sp>
    </p:spTree>
    <p:extLst>
      <p:ext uri="{BB962C8B-B14F-4D97-AF65-F5344CB8AC3E}">
        <p14:creationId xmlns:p14="http://schemas.microsoft.com/office/powerpoint/2010/main" val="493133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 rot="-5400000">
            <a:off x="14910221" y="-249660"/>
            <a:ext cx="2418292" cy="138427"/>
            <a:chOff x="0" y="0"/>
            <a:chExt cx="127915" cy="73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7915" cy="7322"/>
            </a:xfrm>
            <a:custGeom>
              <a:avLst/>
              <a:gdLst/>
              <a:ahLst/>
              <a:cxnLst/>
              <a:rect l="l" t="t" r="r" b="b"/>
              <a:pathLst>
                <a:path w="127915" h="7322">
                  <a:moveTo>
                    <a:pt x="3661" y="0"/>
                  </a:moveTo>
                  <a:lnTo>
                    <a:pt x="124254" y="0"/>
                  </a:lnTo>
                  <a:cubicBezTo>
                    <a:pt x="125225" y="0"/>
                    <a:pt x="126156" y="386"/>
                    <a:pt x="126843" y="1072"/>
                  </a:cubicBezTo>
                  <a:cubicBezTo>
                    <a:pt x="127529" y="1759"/>
                    <a:pt x="127915" y="2690"/>
                    <a:pt x="127915" y="3661"/>
                  </a:cubicBezTo>
                  <a:lnTo>
                    <a:pt x="127915" y="3661"/>
                  </a:lnTo>
                  <a:cubicBezTo>
                    <a:pt x="127915" y="4632"/>
                    <a:pt x="127529" y="5563"/>
                    <a:pt x="126843" y="6250"/>
                  </a:cubicBezTo>
                  <a:cubicBezTo>
                    <a:pt x="126156" y="6936"/>
                    <a:pt x="125225" y="7322"/>
                    <a:pt x="124254" y="7322"/>
                  </a:cubicBezTo>
                  <a:lnTo>
                    <a:pt x="3661" y="7322"/>
                  </a:lnTo>
                  <a:cubicBezTo>
                    <a:pt x="2690" y="7322"/>
                    <a:pt x="1759" y="6936"/>
                    <a:pt x="1072" y="6250"/>
                  </a:cubicBezTo>
                  <a:cubicBezTo>
                    <a:pt x="386" y="5563"/>
                    <a:pt x="0" y="4632"/>
                    <a:pt x="0" y="3661"/>
                  </a:cubicBezTo>
                  <a:lnTo>
                    <a:pt x="0" y="3661"/>
                  </a:lnTo>
                  <a:cubicBezTo>
                    <a:pt x="0" y="2690"/>
                    <a:pt x="386" y="1759"/>
                    <a:pt x="1072" y="1072"/>
                  </a:cubicBezTo>
                  <a:cubicBezTo>
                    <a:pt x="1759" y="386"/>
                    <a:pt x="2690" y="0"/>
                    <a:pt x="36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27915" cy="4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5400000">
            <a:off x="15420747" y="-249660"/>
            <a:ext cx="2418292" cy="138427"/>
            <a:chOff x="0" y="0"/>
            <a:chExt cx="127915" cy="732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7915" cy="7322"/>
            </a:xfrm>
            <a:custGeom>
              <a:avLst/>
              <a:gdLst/>
              <a:ahLst/>
              <a:cxnLst/>
              <a:rect l="l" t="t" r="r" b="b"/>
              <a:pathLst>
                <a:path w="127915" h="7322">
                  <a:moveTo>
                    <a:pt x="3661" y="0"/>
                  </a:moveTo>
                  <a:lnTo>
                    <a:pt x="124254" y="0"/>
                  </a:lnTo>
                  <a:cubicBezTo>
                    <a:pt x="125225" y="0"/>
                    <a:pt x="126156" y="386"/>
                    <a:pt x="126843" y="1072"/>
                  </a:cubicBezTo>
                  <a:cubicBezTo>
                    <a:pt x="127529" y="1759"/>
                    <a:pt x="127915" y="2690"/>
                    <a:pt x="127915" y="3661"/>
                  </a:cubicBezTo>
                  <a:lnTo>
                    <a:pt x="127915" y="3661"/>
                  </a:lnTo>
                  <a:cubicBezTo>
                    <a:pt x="127915" y="4632"/>
                    <a:pt x="127529" y="5563"/>
                    <a:pt x="126843" y="6250"/>
                  </a:cubicBezTo>
                  <a:cubicBezTo>
                    <a:pt x="126156" y="6936"/>
                    <a:pt x="125225" y="7322"/>
                    <a:pt x="124254" y="7322"/>
                  </a:cubicBezTo>
                  <a:lnTo>
                    <a:pt x="3661" y="7322"/>
                  </a:lnTo>
                  <a:cubicBezTo>
                    <a:pt x="2690" y="7322"/>
                    <a:pt x="1759" y="6936"/>
                    <a:pt x="1072" y="6250"/>
                  </a:cubicBezTo>
                  <a:cubicBezTo>
                    <a:pt x="386" y="5563"/>
                    <a:pt x="0" y="4632"/>
                    <a:pt x="0" y="3661"/>
                  </a:cubicBezTo>
                  <a:lnTo>
                    <a:pt x="0" y="3661"/>
                  </a:lnTo>
                  <a:cubicBezTo>
                    <a:pt x="0" y="2690"/>
                    <a:pt x="386" y="1759"/>
                    <a:pt x="1072" y="1072"/>
                  </a:cubicBezTo>
                  <a:cubicBezTo>
                    <a:pt x="1759" y="386"/>
                    <a:pt x="2690" y="0"/>
                    <a:pt x="36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27915" cy="4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-5400000">
            <a:off x="15931272" y="-249660"/>
            <a:ext cx="2418292" cy="138427"/>
            <a:chOff x="0" y="0"/>
            <a:chExt cx="127915" cy="732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7915" cy="7322"/>
            </a:xfrm>
            <a:custGeom>
              <a:avLst/>
              <a:gdLst/>
              <a:ahLst/>
              <a:cxnLst/>
              <a:rect l="l" t="t" r="r" b="b"/>
              <a:pathLst>
                <a:path w="127915" h="7322">
                  <a:moveTo>
                    <a:pt x="3661" y="0"/>
                  </a:moveTo>
                  <a:lnTo>
                    <a:pt x="124254" y="0"/>
                  </a:lnTo>
                  <a:cubicBezTo>
                    <a:pt x="125225" y="0"/>
                    <a:pt x="126156" y="386"/>
                    <a:pt x="126843" y="1072"/>
                  </a:cubicBezTo>
                  <a:cubicBezTo>
                    <a:pt x="127529" y="1759"/>
                    <a:pt x="127915" y="2690"/>
                    <a:pt x="127915" y="3661"/>
                  </a:cubicBezTo>
                  <a:lnTo>
                    <a:pt x="127915" y="3661"/>
                  </a:lnTo>
                  <a:cubicBezTo>
                    <a:pt x="127915" y="4632"/>
                    <a:pt x="127529" y="5563"/>
                    <a:pt x="126843" y="6250"/>
                  </a:cubicBezTo>
                  <a:cubicBezTo>
                    <a:pt x="126156" y="6936"/>
                    <a:pt x="125225" y="7322"/>
                    <a:pt x="124254" y="7322"/>
                  </a:cubicBezTo>
                  <a:lnTo>
                    <a:pt x="3661" y="7322"/>
                  </a:lnTo>
                  <a:cubicBezTo>
                    <a:pt x="2690" y="7322"/>
                    <a:pt x="1759" y="6936"/>
                    <a:pt x="1072" y="6250"/>
                  </a:cubicBezTo>
                  <a:cubicBezTo>
                    <a:pt x="386" y="5563"/>
                    <a:pt x="0" y="4632"/>
                    <a:pt x="0" y="3661"/>
                  </a:cubicBezTo>
                  <a:lnTo>
                    <a:pt x="0" y="3661"/>
                  </a:lnTo>
                  <a:cubicBezTo>
                    <a:pt x="0" y="2690"/>
                    <a:pt x="386" y="1759"/>
                    <a:pt x="1072" y="1072"/>
                  </a:cubicBezTo>
                  <a:cubicBezTo>
                    <a:pt x="1759" y="386"/>
                    <a:pt x="2690" y="0"/>
                    <a:pt x="36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27915" cy="4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877685" y="378142"/>
            <a:ext cx="11212599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Poppins" panose="00000500000000000000" pitchFamily="2" charset="0"/>
                <a:sym typeface="Gill Sans Light Shadowed"/>
              </a:rPr>
              <a:t>DATASET OVERVIEW</a:t>
            </a:r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E657B085-360D-A31C-0362-A0A80F9DC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548789"/>
              </p:ext>
            </p:extLst>
          </p:nvPr>
        </p:nvGraphicFramePr>
        <p:xfrm>
          <a:off x="4134037" y="2375397"/>
          <a:ext cx="10134600" cy="34869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4138">
                  <a:extLst>
                    <a:ext uri="{9D8B030D-6E8A-4147-A177-3AD203B41FA5}">
                      <a16:colId xmlns:a16="http://schemas.microsoft.com/office/drawing/2014/main" val="3942200108"/>
                    </a:ext>
                  </a:extLst>
                </a:gridCol>
                <a:gridCol w="6330462">
                  <a:extLst>
                    <a:ext uri="{9D8B030D-6E8A-4147-A177-3AD203B41FA5}">
                      <a16:colId xmlns:a16="http://schemas.microsoft.com/office/drawing/2014/main" val="867259725"/>
                    </a:ext>
                  </a:extLst>
                </a:gridCol>
              </a:tblGrid>
              <a:tr h="3887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Attribute</a:t>
                      </a:r>
                      <a:endParaRPr lang="en-US" sz="24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Detail</a:t>
                      </a:r>
                      <a:endParaRPr lang="en-US" sz="24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84981887"/>
                  </a:ext>
                </a:extLst>
              </a:tr>
              <a:tr h="439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 Records</a:t>
                      </a:r>
                      <a:endParaRPr lang="en-US" sz="24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10,000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customer records</a:t>
                      </a:r>
                      <a:endParaRPr lang="en-US" sz="2400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694621923"/>
                  </a:ext>
                </a:extLst>
              </a:tr>
              <a:tr h="439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 Tables</a:t>
                      </a:r>
                      <a:endParaRPr lang="en-US" sz="24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relational tables</a:t>
                      </a:r>
                      <a:endParaRPr lang="en-US" sz="2400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537699088"/>
                  </a:ext>
                </a:extLst>
              </a:tr>
              <a:tr h="439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Geography Coverage</a:t>
                      </a:r>
                      <a:endParaRPr lang="en-US" sz="24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countries: France, Germany, Spain</a:t>
                      </a:r>
                      <a:endParaRPr lang="en-US" sz="2400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605665581"/>
                  </a:ext>
                </a:extLst>
              </a:tr>
              <a:tr h="743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Time Coverage</a:t>
                      </a:r>
                      <a:endParaRPr lang="en-US" sz="24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2016–2019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-year observation window)</a:t>
                      </a:r>
                      <a:endParaRPr lang="en-US" sz="2400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87587994"/>
                  </a:ext>
                </a:extLst>
              </a:tr>
              <a:tr h="439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Churn Prevalence</a:t>
                      </a:r>
                      <a:endParaRPr lang="en-US" sz="24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2,037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exits (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20.37%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of total)</a:t>
                      </a:r>
                      <a:endParaRPr lang="en-US" sz="2400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254356592"/>
                  </a:ext>
                </a:extLst>
              </a:tr>
              <a:tr h="439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Missing Values</a:t>
                      </a:r>
                      <a:endParaRPr lang="en-US" sz="2400" b="1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Zero — all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10,000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records fully complete</a:t>
                      </a:r>
                      <a:endParaRPr lang="en-US" sz="2400" dirty="0">
                        <a:effectLst/>
                        <a:latin typeface="Poppins" panose="00000500000000000000" pitchFamily="2" charset="0"/>
                        <a:ea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39578445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7BE29867-6CF8-7FE5-4768-D83B806A5B65}"/>
              </a:ext>
            </a:extLst>
          </p:cNvPr>
          <p:cNvSpPr txBox="1"/>
          <p:nvPr/>
        </p:nvSpPr>
        <p:spPr>
          <a:xfrm>
            <a:off x="1053280" y="6205524"/>
            <a:ext cx="16296114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The dataset consists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10,000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 records collected across France, Germany, and Spain during the period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2016–2019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. Structured through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relational tables, it captures customer demographics, financial attributes, account details, and behavioral characteristics, providing a comprehensive view of customer relationships and banking activity.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F5BBDD-FD02-817F-303C-C43FC13EA0B7}"/>
              </a:ext>
            </a:extLst>
          </p:cNvPr>
          <p:cNvSpPr txBox="1"/>
          <p:nvPr/>
        </p:nvSpPr>
        <p:spPr>
          <a:xfrm>
            <a:off x="1053280" y="7535519"/>
            <a:ext cx="16038052" cy="1486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The dataset includes key variables such as Age, Gender, Geography, Credit Score, Balance, Product Ownership, Tenure, and Activity Status, with Exited serving as the target variable for churn analysis. With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zero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missing values and a churn prevalence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20.37%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2,037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exited customers), the dataset provides a strong foundation for customer segmentation, churn risk assessment, and retention strategy development.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AB2A44-96F2-20F5-813F-D8BA8A53547C}"/>
              </a:ext>
            </a:extLst>
          </p:cNvPr>
          <p:cNvSpPr txBox="1"/>
          <p:nvPr/>
        </p:nvSpPr>
        <p:spPr>
          <a:xfrm>
            <a:off x="877685" y="1716344"/>
            <a:ext cx="16038052" cy="747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Dataset contains demographic, financial, behavioral, and account-level variables enabling comprehensive churn </a:t>
            </a:r>
          </a:p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-610586" y="468942"/>
            <a:ext cx="17240479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Key Findings &amp; INSIGHTS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F5FE081-47F2-266F-96FA-AB18CEF92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20" y="1683868"/>
            <a:ext cx="16762809" cy="2062891"/>
          </a:xfrm>
          <a:prstGeom prst="rect">
            <a:avLst/>
          </a:prstGeom>
        </p:spPr>
      </p:pic>
      <p:grpSp>
        <p:nvGrpSpPr>
          <p:cNvPr id="56" name="Group 6">
            <a:extLst>
              <a:ext uri="{FF2B5EF4-FFF2-40B4-BE49-F238E27FC236}">
                <a16:creationId xmlns:a16="http://schemas.microsoft.com/office/drawing/2014/main" id="{63B0E50C-F49A-F8FA-5E8C-15CD0BCE4E4D}"/>
              </a:ext>
            </a:extLst>
          </p:cNvPr>
          <p:cNvGrpSpPr/>
          <p:nvPr/>
        </p:nvGrpSpPr>
        <p:grpSpPr>
          <a:xfrm>
            <a:off x="590321" y="4401927"/>
            <a:ext cx="457199" cy="405127"/>
            <a:chOff x="0" y="0"/>
            <a:chExt cx="812800" cy="812800"/>
          </a:xfrm>
        </p:grpSpPr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70E59D00-FBE7-6BE2-0D88-C433541ADE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</p:sp>
        <p:sp>
          <p:nvSpPr>
            <p:cNvPr id="58" name="TextBox 8">
              <a:extLst>
                <a:ext uri="{FF2B5EF4-FFF2-40B4-BE49-F238E27FC236}">
                  <a16:creationId xmlns:a16="http://schemas.microsoft.com/office/drawing/2014/main" id="{73520857-AE73-74D8-517D-7F1C7E06F97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8" name="Group 6">
            <a:extLst>
              <a:ext uri="{FF2B5EF4-FFF2-40B4-BE49-F238E27FC236}">
                <a16:creationId xmlns:a16="http://schemas.microsoft.com/office/drawing/2014/main" id="{6CF97B86-50F4-9F00-9A4C-FC92E0374C86}"/>
              </a:ext>
            </a:extLst>
          </p:cNvPr>
          <p:cNvGrpSpPr/>
          <p:nvPr/>
        </p:nvGrpSpPr>
        <p:grpSpPr>
          <a:xfrm>
            <a:off x="633182" y="7855769"/>
            <a:ext cx="457199" cy="405127"/>
            <a:chOff x="0" y="0"/>
            <a:chExt cx="812800" cy="812800"/>
          </a:xfrm>
        </p:grpSpPr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31D70853-D395-A177-6B06-F981A4BEAC1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</p:sp>
        <p:sp>
          <p:nvSpPr>
            <p:cNvPr id="70" name="TextBox 8">
              <a:extLst>
                <a:ext uri="{FF2B5EF4-FFF2-40B4-BE49-F238E27FC236}">
                  <a16:creationId xmlns:a16="http://schemas.microsoft.com/office/drawing/2014/main" id="{D1E2E8AB-68E1-656D-CB72-234848A9AC6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1" name="Group 6">
            <a:extLst>
              <a:ext uri="{FF2B5EF4-FFF2-40B4-BE49-F238E27FC236}">
                <a16:creationId xmlns:a16="http://schemas.microsoft.com/office/drawing/2014/main" id="{562CFAB7-18D9-6BEE-5953-5A36FA69813D}"/>
              </a:ext>
            </a:extLst>
          </p:cNvPr>
          <p:cNvGrpSpPr/>
          <p:nvPr/>
        </p:nvGrpSpPr>
        <p:grpSpPr>
          <a:xfrm>
            <a:off x="590320" y="6135115"/>
            <a:ext cx="457199" cy="405127"/>
            <a:chOff x="0" y="0"/>
            <a:chExt cx="812800" cy="812800"/>
          </a:xfrm>
        </p:grpSpPr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CD5DCBB1-2B0B-CEC1-CC66-7E8ACBC8D6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</p:sp>
        <p:sp>
          <p:nvSpPr>
            <p:cNvPr id="73" name="TextBox 8">
              <a:extLst>
                <a:ext uri="{FF2B5EF4-FFF2-40B4-BE49-F238E27FC236}">
                  <a16:creationId xmlns:a16="http://schemas.microsoft.com/office/drawing/2014/main" id="{BF9119CF-164D-36B9-38BD-8FF4D6CA675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0D36474B-A520-E08B-9A83-BF6848AFCEF8}"/>
              </a:ext>
            </a:extLst>
          </p:cNvPr>
          <p:cNvSpPr txBox="1"/>
          <p:nvPr/>
        </p:nvSpPr>
        <p:spPr>
          <a:xfrm>
            <a:off x="1185863" y="4312102"/>
            <a:ext cx="112113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Customer Retention Requires Immediate Attention:</a:t>
            </a:r>
            <a:r>
              <a:rPr lang="en-US" dirty="0"/>
              <a:t>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DE1EC1-8F45-876B-8497-50B8B83369A1}"/>
              </a:ext>
            </a:extLst>
          </p:cNvPr>
          <p:cNvSpPr txBox="1"/>
          <p:nvPr/>
        </p:nvSpPr>
        <p:spPr>
          <a:xfrm>
            <a:off x="1167127" y="4953294"/>
            <a:ext cx="12315508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Out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10,000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customers,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2,037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 have churned, resulting in a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20.37%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 rate, which means nearly one in every five customers is being lost.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DD6B5C2-6C22-EE65-0958-4179465A3806}"/>
              </a:ext>
            </a:extLst>
          </p:cNvPr>
          <p:cNvSpPr txBox="1"/>
          <p:nvPr/>
        </p:nvSpPr>
        <p:spPr>
          <a:xfrm>
            <a:off x="1219200" y="6049195"/>
            <a:ext cx="9446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Customer Base Remains Strong: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3E576F-E386-3C4F-027E-FA6E595177E4}"/>
              </a:ext>
            </a:extLst>
          </p:cNvPr>
          <p:cNvSpPr txBox="1"/>
          <p:nvPr/>
        </p:nvSpPr>
        <p:spPr>
          <a:xfrm>
            <a:off x="1219199" y="6690267"/>
            <a:ext cx="12315507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Despite churn, the organization has successfully retained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7,963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79.63%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providing a strong foundation for targeted retention and loyalty initiatives.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4FE4B1-F538-D584-522A-73339E25CED5}"/>
              </a:ext>
            </a:extLst>
          </p:cNvPr>
          <p:cNvSpPr txBox="1"/>
          <p:nvPr/>
        </p:nvSpPr>
        <p:spPr>
          <a:xfrm>
            <a:off x="1250745" y="7765946"/>
            <a:ext cx="9446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High-Value Portfolio at Stake: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B335F27-29AC-5DC1-D6C8-3CB11636F59F}"/>
              </a:ext>
            </a:extLst>
          </p:cNvPr>
          <p:cNvSpPr txBox="1"/>
          <p:nvPr/>
        </p:nvSpPr>
        <p:spPr>
          <a:xfrm>
            <a:off x="1290483" y="8427240"/>
            <a:ext cx="12192151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The customer base maintains an average balance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$76.49K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indicating that even a small reduction in churn can protect a significant amount of customer deposits and revenue potential.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212E0D53-AB1C-DE67-BE6C-E31B3A515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1135" y="4594995"/>
            <a:ext cx="3698935" cy="3698935"/>
          </a:xfrm>
          <a:prstGeom prst="rect">
            <a:avLst/>
          </a:prstGeom>
          <a:effectLst>
            <a:glow rad="228600">
              <a:schemeClr val="tx1">
                <a:lumMod val="95000"/>
                <a:lumOff val="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748F-580F-8A37-D6A3-58ED62501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6">
            <a:extLst>
              <a:ext uri="{FF2B5EF4-FFF2-40B4-BE49-F238E27FC236}">
                <a16:creationId xmlns:a16="http://schemas.microsoft.com/office/drawing/2014/main" id="{B6AEE8A8-F25A-F4B3-F39E-999587BA2EB3}"/>
              </a:ext>
            </a:extLst>
          </p:cNvPr>
          <p:cNvGrpSpPr/>
          <p:nvPr/>
        </p:nvGrpSpPr>
        <p:grpSpPr>
          <a:xfrm>
            <a:off x="633182" y="1181100"/>
            <a:ext cx="457199" cy="405127"/>
            <a:chOff x="0" y="0"/>
            <a:chExt cx="812800" cy="812800"/>
          </a:xfrm>
        </p:grpSpPr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3838C056-CA53-B01B-D1CE-86573C91C5C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</p:sp>
        <p:sp>
          <p:nvSpPr>
            <p:cNvPr id="58" name="TextBox 8">
              <a:extLst>
                <a:ext uri="{FF2B5EF4-FFF2-40B4-BE49-F238E27FC236}">
                  <a16:creationId xmlns:a16="http://schemas.microsoft.com/office/drawing/2014/main" id="{AF8CA404-84FA-E1BF-7B53-341CD1DEA12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8" name="Group 6">
            <a:extLst>
              <a:ext uri="{FF2B5EF4-FFF2-40B4-BE49-F238E27FC236}">
                <a16:creationId xmlns:a16="http://schemas.microsoft.com/office/drawing/2014/main" id="{941C0583-2B2D-D434-2DEB-FA848AB1EB70}"/>
              </a:ext>
            </a:extLst>
          </p:cNvPr>
          <p:cNvGrpSpPr/>
          <p:nvPr/>
        </p:nvGrpSpPr>
        <p:grpSpPr>
          <a:xfrm>
            <a:off x="676043" y="5500495"/>
            <a:ext cx="457199" cy="405127"/>
            <a:chOff x="0" y="0"/>
            <a:chExt cx="812800" cy="812800"/>
          </a:xfrm>
        </p:grpSpPr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0E14C29C-F42F-05EC-3F2C-4055428C0D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" name="TextBox 8">
              <a:extLst>
                <a:ext uri="{FF2B5EF4-FFF2-40B4-BE49-F238E27FC236}">
                  <a16:creationId xmlns:a16="http://schemas.microsoft.com/office/drawing/2014/main" id="{775C0DAC-1BBD-0C6C-DBF1-780F5349455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1" name="Group 6">
            <a:extLst>
              <a:ext uri="{FF2B5EF4-FFF2-40B4-BE49-F238E27FC236}">
                <a16:creationId xmlns:a16="http://schemas.microsoft.com/office/drawing/2014/main" id="{8990EDB1-6845-F753-075A-6B1693AF323E}"/>
              </a:ext>
            </a:extLst>
          </p:cNvPr>
          <p:cNvGrpSpPr/>
          <p:nvPr/>
        </p:nvGrpSpPr>
        <p:grpSpPr>
          <a:xfrm>
            <a:off x="676044" y="3320504"/>
            <a:ext cx="457199" cy="499495"/>
            <a:chOff x="-19138" y="-265530"/>
            <a:chExt cx="812800" cy="1002130"/>
          </a:xfrm>
        </p:grpSpPr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BA987EE3-6DAF-4099-9A9F-B1AE19BB6769}"/>
                </a:ext>
              </a:extLst>
            </p:cNvPr>
            <p:cNvSpPr/>
            <p:nvPr/>
          </p:nvSpPr>
          <p:spPr>
            <a:xfrm>
              <a:off x="-19138" y="-26553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73B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" name="TextBox 8">
              <a:extLst>
                <a:ext uri="{FF2B5EF4-FFF2-40B4-BE49-F238E27FC236}">
                  <a16:creationId xmlns:a16="http://schemas.microsoft.com/office/drawing/2014/main" id="{4DC2F974-C658-81AF-F686-D4AFACB50B9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1E75134-C475-3BB6-F6EE-CC67E69FE675}"/>
              </a:ext>
            </a:extLst>
          </p:cNvPr>
          <p:cNvSpPr txBox="1"/>
          <p:nvPr/>
        </p:nvSpPr>
        <p:spPr>
          <a:xfrm>
            <a:off x="1346652" y="1081780"/>
            <a:ext cx="10134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Churn Creates Significant Financial Exposure: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7480E-19F4-1CA2-DC25-22A4BC2B137D}"/>
              </a:ext>
            </a:extLst>
          </p:cNvPr>
          <p:cNvSpPr txBox="1"/>
          <p:nvPr/>
        </p:nvSpPr>
        <p:spPr>
          <a:xfrm>
            <a:off x="1346652" y="1866900"/>
            <a:ext cx="12216948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With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2,037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exiting from a portfolio averaging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$76.49K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per customer, customer attrition represents a substantial loss of financial value and future business opportunities.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37042F-5065-AA39-6BE1-13295B6BA1A6}"/>
              </a:ext>
            </a:extLst>
          </p:cNvPr>
          <p:cNvSpPr txBox="1"/>
          <p:nvPr/>
        </p:nvSpPr>
        <p:spPr>
          <a:xfrm>
            <a:off x="1371233" y="3277865"/>
            <a:ext cx="998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Customer Credit Profile Is Relatively Stable: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0DF7B-02BB-CBB6-3D98-0CA4A138D170}"/>
              </a:ext>
            </a:extLst>
          </p:cNvPr>
          <p:cNvSpPr txBox="1"/>
          <p:nvPr/>
        </p:nvSpPr>
        <p:spPr>
          <a:xfrm>
            <a:off x="1363859" y="4026271"/>
            <a:ext cx="12182535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An average credit score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650.53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suggests that the overall customer base has moderate creditworthiness, indicating that retention challenges are likely driven more by customer engagement and experience than by credit risk alone.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C40002-1BDE-E183-104B-E95792BFF6B1}"/>
              </a:ext>
            </a:extLst>
          </p:cNvPr>
          <p:cNvSpPr txBox="1"/>
          <p:nvPr/>
        </p:nvSpPr>
        <p:spPr>
          <a:xfrm>
            <a:off x="1363859" y="5407222"/>
            <a:ext cx="119770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Retention Improvement Can Deliver Significant Impact: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121DC8-DFE4-58ED-4953-7BB1417A24DC}"/>
              </a:ext>
            </a:extLst>
          </p:cNvPr>
          <p:cNvSpPr txBox="1"/>
          <p:nvPr/>
        </p:nvSpPr>
        <p:spPr>
          <a:xfrm>
            <a:off x="1371233" y="6185642"/>
            <a:ext cx="12234154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Reducing the current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20.37%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 rate by just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percentage points could help retain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additional customers, protecting substantial customer value and strengthening long-term profitability.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16FBD0-125B-AABC-43D9-FC5A4F0DA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3687" y="2984129"/>
            <a:ext cx="4163929" cy="416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53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1600" y="3467100"/>
            <a:ext cx="163830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            </a:t>
            </a: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Dashboard - 1</a:t>
            </a:r>
          </a:p>
          <a:p>
            <a:pPr algn="l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Customers Demographics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11B6B0-BE67-C06B-B67C-34C7C5C74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1752600"/>
            <a:ext cx="6780164" cy="6781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7E637E-5B78-FDC7-5249-ACC6ECF52894}"/>
              </a:ext>
            </a:extLst>
          </p:cNvPr>
          <p:cNvSpPr txBox="1"/>
          <p:nvPr/>
        </p:nvSpPr>
        <p:spPr>
          <a:xfrm>
            <a:off x="1371600" y="1184816"/>
            <a:ext cx="9144000" cy="113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Gender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0092A-8981-3520-C609-91157E95A8CF}"/>
              </a:ext>
            </a:extLst>
          </p:cNvPr>
          <p:cNvSpPr txBox="1"/>
          <p:nvPr/>
        </p:nvSpPr>
        <p:spPr>
          <a:xfrm>
            <a:off x="685800" y="2857500"/>
            <a:ext cx="9982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Balanced Customer Portfolio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Male customers account for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5.4K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 of the customer base, while females contribute around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4.6K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46%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indicating a well-balanced portfolio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5BE77-8AA3-6AEB-CA92-A1D5F8977616}"/>
              </a:ext>
            </a:extLst>
          </p:cNvPr>
          <p:cNvSpPr txBox="1"/>
          <p:nvPr/>
        </p:nvSpPr>
        <p:spPr>
          <a:xfrm>
            <a:off x="685800" y="4176616"/>
            <a:ext cx="91440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Male Customer Majority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Male customers exceed female customers by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908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customers, making them the largest demographic segment in the dataset.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E82B9A-8941-06C6-8686-4EB0E8A5604B}"/>
              </a:ext>
            </a:extLst>
          </p:cNvPr>
          <p:cNvSpPr txBox="1"/>
          <p:nvPr/>
        </p:nvSpPr>
        <p:spPr>
          <a:xfrm>
            <a:off x="685800" y="5454182"/>
            <a:ext cx="9144000" cy="1445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Strong Demographic Coverage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Both genders contribute nearly equally to the customer base, ensuring broad market representation and reducing dependency on a single demographic group.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7ECF10-6CE6-910D-3312-4FCBF93BFE69}"/>
              </a:ext>
            </a:extLst>
          </p:cNvPr>
          <p:cNvSpPr txBox="1"/>
          <p:nvPr/>
        </p:nvSpPr>
        <p:spPr>
          <a:xfrm>
            <a:off x="685800" y="7017980"/>
            <a:ext cx="91440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Reliable Customer Base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balanced gender mix strengthens the accuracy of customer behavior, churn, and segmentation analysis across the portfolio.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0033A6-46B3-C4B0-43E8-770A1EB8D5C3}"/>
              </a:ext>
            </a:extLst>
          </p:cNvPr>
          <p:cNvSpPr txBox="1"/>
          <p:nvPr/>
        </p:nvSpPr>
        <p:spPr>
          <a:xfrm>
            <a:off x="685800" y="8253996"/>
            <a:ext cx="91440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Low Concentration Risk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No gender accounts for more than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55%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of total customers, creating a stable and diversified customer structure.</a:t>
            </a:r>
          </a:p>
        </p:txBody>
      </p:sp>
    </p:spTree>
    <p:extLst>
      <p:ext uri="{BB962C8B-B14F-4D97-AF65-F5344CB8AC3E}">
        <p14:creationId xmlns:p14="http://schemas.microsoft.com/office/powerpoint/2010/main" val="662792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2F6BA5-B364-70A1-2FB6-55FE18ACF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1562100"/>
            <a:ext cx="6115532" cy="655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8C7D32-F820-D4B1-C034-0FA139EE7392}"/>
              </a:ext>
            </a:extLst>
          </p:cNvPr>
          <p:cNvSpPr txBox="1"/>
          <p:nvPr/>
        </p:nvSpPr>
        <p:spPr>
          <a:xfrm>
            <a:off x="685800" y="994316"/>
            <a:ext cx="10210800" cy="113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Age Bucket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AF04B-DACE-E168-B75B-6A87B3518F8E}"/>
              </a:ext>
            </a:extLst>
          </p:cNvPr>
          <p:cNvSpPr txBox="1"/>
          <p:nvPr/>
        </p:nvSpPr>
        <p:spPr>
          <a:xfrm>
            <a:off x="685800" y="2705100"/>
            <a:ext cx="102108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Middle-Aged Customer Dominance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Customers aged 30–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years account for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6.8K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68%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making them the bank's primary customer segment.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AA3CC6-0424-70CE-D184-228874F32D4B}"/>
              </a:ext>
            </a:extLst>
          </p:cNvPr>
          <p:cNvSpPr txBox="1"/>
          <p:nvPr/>
        </p:nvSpPr>
        <p:spPr>
          <a:xfrm>
            <a:off x="685800" y="4032179"/>
            <a:ext cx="102108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Young Customer Growth Potential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18–30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age group contributes nearly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2K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providing a strong pipeline for future customer value growth.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C89302-303A-6CFD-83E3-0922DFE4E265}"/>
              </a:ext>
            </a:extLst>
          </p:cNvPr>
          <p:cNvSpPr txBox="1"/>
          <p:nvPr/>
        </p:nvSpPr>
        <p:spPr>
          <a:xfrm>
            <a:off x="685800" y="5359258"/>
            <a:ext cx="102108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Limited Senior Representation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Customers aged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50+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represent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1.2K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12%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making them the smallest demographic category.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CD0413-8080-CB1F-7704-4039D0AF2969}"/>
              </a:ext>
            </a:extLst>
          </p:cNvPr>
          <p:cNvSpPr txBox="1"/>
          <p:nvPr/>
        </p:nvSpPr>
        <p:spPr>
          <a:xfrm>
            <a:off x="673510" y="6686337"/>
            <a:ext cx="102108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Portfolio Concentration Risk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Nearly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out of every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 belong to the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30–50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age segment, creating significant dependence on this customer group.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31C8F6-9A62-BC06-E0D8-ADD46F1E8D73}"/>
              </a:ext>
            </a:extLst>
          </p:cNvPr>
          <p:cNvSpPr txBox="1"/>
          <p:nvPr/>
        </p:nvSpPr>
        <p:spPr>
          <a:xfrm>
            <a:off x="685800" y="8013416"/>
            <a:ext cx="1022309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Revenue Generation Focus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dominance of financially active middle-aged customers indicates strong opportunities for retention and cross-selling initiatives.</a:t>
            </a:r>
          </a:p>
        </p:txBody>
      </p:sp>
    </p:spTree>
    <p:extLst>
      <p:ext uri="{BB962C8B-B14F-4D97-AF65-F5344CB8AC3E}">
        <p14:creationId xmlns:p14="http://schemas.microsoft.com/office/powerpoint/2010/main" val="562199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7F8C5D-EC78-EF03-BD8B-F107636A0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0" y="1425479"/>
            <a:ext cx="6334605" cy="640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DCCA56-6532-7D0C-5BE6-6E8503BEE3EB}"/>
              </a:ext>
            </a:extLst>
          </p:cNvPr>
          <p:cNvSpPr txBox="1"/>
          <p:nvPr/>
        </p:nvSpPr>
        <p:spPr>
          <a:xfrm>
            <a:off x="1143000" y="487023"/>
            <a:ext cx="8153400" cy="2302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Customer count by</a:t>
            </a:r>
          </a:p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  location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3682B5-17FE-3740-95C0-928E13434CFC}"/>
              </a:ext>
            </a:extLst>
          </p:cNvPr>
          <p:cNvSpPr txBox="1"/>
          <p:nvPr/>
        </p:nvSpPr>
        <p:spPr>
          <a:xfrm>
            <a:off x="533400" y="3467100"/>
            <a:ext cx="106680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France Market Leadership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France contributes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5,014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50.1%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making it the largest geographic market within the portfolio.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8115A-76D0-5FBD-37BA-1CC2BFB84EBB}"/>
              </a:ext>
            </a:extLst>
          </p:cNvPr>
          <p:cNvSpPr txBox="1"/>
          <p:nvPr/>
        </p:nvSpPr>
        <p:spPr>
          <a:xfrm>
            <a:off x="555523" y="4830125"/>
            <a:ext cx="1066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Balanced Geographic Presence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Germany and Spain each contribute nearly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2,500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ensuring diversified market coverage.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D77624-DABC-0B25-08E3-E41DC663C7FE}"/>
              </a:ext>
            </a:extLst>
          </p:cNvPr>
          <p:cNvSpPr txBox="1"/>
          <p:nvPr/>
        </p:nvSpPr>
        <p:spPr>
          <a:xfrm>
            <a:off x="533400" y="5865368"/>
            <a:ext cx="106680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Strategic Importance of France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One out of every two customers belongs to France, highlighting its critical contribution to overall business performance.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29CCD0-E5AF-D2D6-3EB4-C025DE81A11E}"/>
              </a:ext>
            </a:extLst>
          </p:cNvPr>
          <p:cNvSpPr txBox="1"/>
          <p:nvPr/>
        </p:nvSpPr>
        <p:spPr>
          <a:xfrm>
            <a:off x="555522" y="7192988"/>
            <a:ext cx="10645877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Geographic Diversification Advantage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Nearly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of customers are distributed outside France, reducing dependence on a single market.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C979B8-780F-9F63-ECF6-CFB1F6D89263}"/>
              </a:ext>
            </a:extLst>
          </p:cNvPr>
          <p:cNvSpPr txBox="1"/>
          <p:nvPr/>
        </p:nvSpPr>
        <p:spPr>
          <a:xfrm>
            <a:off x="540773" y="8186681"/>
            <a:ext cx="10682749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Regional Expansion Opportunity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Germany and Spain collectively represent almost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5,000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customers, offering substantial potential for future growth initiatives.</a:t>
            </a:r>
          </a:p>
        </p:txBody>
      </p:sp>
    </p:spTree>
    <p:extLst>
      <p:ext uri="{BB962C8B-B14F-4D97-AF65-F5344CB8AC3E}">
        <p14:creationId xmlns:p14="http://schemas.microsoft.com/office/powerpoint/2010/main" val="2469122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A134A-145B-86F9-29FF-494B8A1E3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0" y="2019300"/>
            <a:ext cx="6518787" cy="6934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C4A568-D24B-7FF2-2C2E-702F7A756E6B}"/>
              </a:ext>
            </a:extLst>
          </p:cNvPr>
          <p:cNvSpPr txBox="1"/>
          <p:nvPr/>
        </p:nvSpPr>
        <p:spPr>
          <a:xfrm>
            <a:off x="1831258" y="495300"/>
            <a:ext cx="7315200" cy="2302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average Salary by</a:t>
            </a:r>
          </a:p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  location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ECE6D-2C7A-D1AE-EE5E-F8072C0C22F7}"/>
              </a:ext>
            </a:extLst>
          </p:cNvPr>
          <p:cNvSpPr txBox="1"/>
          <p:nvPr/>
        </p:nvSpPr>
        <p:spPr>
          <a:xfrm>
            <a:off x="533400" y="3238500"/>
            <a:ext cx="103632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Income Consistency Across Markets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Average customer salary remains close to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$100,000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across France, Germany, and Spain, indicating a financially stable customer base.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2EFB95-F2F5-4A41-C564-DD418796EC7F}"/>
              </a:ext>
            </a:extLst>
          </p:cNvPr>
          <p:cNvSpPr txBox="1"/>
          <p:nvPr/>
        </p:nvSpPr>
        <p:spPr>
          <a:xfrm>
            <a:off x="533400" y="4533900"/>
            <a:ext cx="10363200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Germany Salary Leadership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Germany records the highest average salary among all regions, although the difference remains relatively small.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1B10AD-401C-71FA-2A03-6CEEE2041229}"/>
              </a:ext>
            </a:extLst>
          </p:cNvPr>
          <p:cNvSpPr txBox="1"/>
          <p:nvPr/>
        </p:nvSpPr>
        <p:spPr>
          <a:xfrm>
            <a:off x="533400" y="5459968"/>
            <a:ext cx="103632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Stable Purchasing Power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Similar salary levels across all three countries indicate comparable customer spending and investment capacity</a:t>
            </a:r>
            <a:r>
              <a:rPr 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2337A-DEB1-9796-EED7-9999F8646F67}"/>
              </a:ext>
            </a:extLst>
          </p:cNvPr>
          <p:cNvSpPr txBox="1"/>
          <p:nvPr/>
        </p:nvSpPr>
        <p:spPr>
          <a:xfrm>
            <a:off x="533400" y="6707673"/>
            <a:ext cx="10363200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Minimal Regional Variation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Salary differences between regions remain marginal, suggesting a consistent customer income profile.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756DC8-C4F0-16F3-34D2-1E463E2A8A88}"/>
              </a:ext>
            </a:extLst>
          </p:cNvPr>
          <p:cNvSpPr txBox="1"/>
          <p:nvPr/>
        </p:nvSpPr>
        <p:spPr>
          <a:xfrm>
            <a:off x="533400" y="7627596"/>
            <a:ext cx="10363200" cy="107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b="1" dirty="0">
                <a:latin typeface="Poppins" panose="00000500000000000000" pitchFamily="2" charset="0"/>
                <a:cs typeface="Poppins" panose="00000500000000000000" pitchFamily="2" charset="0"/>
              </a:rPr>
              <a:t>Salary Not a Key Differentiator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– Customer behavior and performance differences are likely influenced more by engagement and retention factors than salary levels.</a:t>
            </a:r>
          </a:p>
        </p:txBody>
      </p:sp>
    </p:spTree>
    <p:extLst>
      <p:ext uri="{BB962C8B-B14F-4D97-AF65-F5344CB8AC3E}">
        <p14:creationId xmlns:p14="http://schemas.microsoft.com/office/powerpoint/2010/main" val="205068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DDE5F-4AE8-C522-C8CD-5DAA2A592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2324100"/>
            <a:ext cx="7081691" cy="647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645351-75BA-BF86-0CB7-0BAA70367F7D}"/>
              </a:ext>
            </a:extLst>
          </p:cNvPr>
          <p:cNvSpPr txBox="1"/>
          <p:nvPr/>
        </p:nvSpPr>
        <p:spPr>
          <a:xfrm>
            <a:off x="1219200" y="647700"/>
            <a:ext cx="7924800" cy="2302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Customer count by </a:t>
            </a:r>
          </a:p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     tenure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26F66-5A82-4092-CA79-68B3E69F8E30}"/>
              </a:ext>
            </a:extLst>
          </p:cNvPr>
          <p:cNvSpPr txBox="1"/>
          <p:nvPr/>
        </p:nvSpPr>
        <p:spPr>
          <a:xfrm>
            <a:off x="609600" y="3390900"/>
            <a:ext cx="9829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Tenure Year </a:t>
            </a:r>
            <a:r>
              <a:rPr lang="en-US" sz="24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Concentration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3,000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 have a tenure of </a:t>
            </a:r>
            <a:r>
              <a:rPr lang="en-US" sz="28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years, making it the largest tenure segment.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956310-2F7D-DAE7-7194-00C27F284D7F}"/>
              </a:ext>
            </a:extLst>
          </p:cNvPr>
          <p:cNvSpPr txBox="1"/>
          <p:nvPr/>
        </p:nvSpPr>
        <p:spPr>
          <a:xfrm>
            <a:off x="609600" y="4457700"/>
            <a:ext cx="9829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Mature Customer Portfolio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Customers with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4–6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years of tenure account for nearly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80%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of the total customer base.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9D604C-5D09-C2C7-8B1B-04D1EF20887E}"/>
              </a:ext>
            </a:extLst>
          </p:cNvPr>
          <p:cNvSpPr txBox="1"/>
          <p:nvPr/>
        </p:nvSpPr>
        <p:spPr>
          <a:xfrm>
            <a:off x="604684" y="5462945"/>
            <a:ext cx="98298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Lower Representation at Extremes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 counts are comparatively lower at tenure years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 and 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creating a bell-shaped distribution.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9D35D2-DC7E-C5C6-4D73-235B5B33D749}"/>
              </a:ext>
            </a:extLst>
          </p:cNvPr>
          <p:cNvSpPr txBox="1"/>
          <p:nvPr/>
        </p:nvSpPr>
        <p:spPr>
          <a:xfrm>
            <a:off x="604684" y="6795972"/>
            <a:ext cx="9829800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Strong Relationship Stability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concentration in mid-tenure categories indicates successful long-term customer retention.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125885-CC32-CDE1-A8E0-10616F3D14F9}"/>
              </a:ext>
            </a:extLst>
          </p:cNvPr>
          <p:cNvSpPr txBox="1"/>
          <p:nvPr/>
        </p:nvSpPr>
        <p:spPr>
          <a:xfrm>
            <a:off x="609600" y="7759667"/>
            <a:ext cx="9824884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Lifecycle Management Opportunity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large population in the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4–5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year range presents a key opportunity for loyalty and engagement programs.</a:t>
            </a:r>
          </a:p>
        </p:txBody>
      </p:sp>
    </p:spTree>
    <p:extLst>
      <p:ext uri="{BB962C8B-B14F-4D97-AF65-F5344CB8AC3E}">
        <p14:creationId xmlns:p14="http://schemas.microsoft.com/office/powerpoint/2010/main" val="504674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DC34E4-52F4-D368-3A7B-7E2F9F623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400" y="2095500"/>
            <a:ext cx="5957408" cy="609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0056B0-43FE-8AFD-9FC4-A2B023B265D2}"/>
              </a:ext>
            </a:extLst>
          </p:cNvPr>
          <p:cNvSpPr txBox="1"/>
          <p:nvPr/>
        </p:nvSpPr>
        <p:spPr>
          <a:xfrm>
            <a:off x="1143000" y="1181100"/>
            <a:ext cx="9144000" cy="113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Salary vs credit score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CB007-CBE1-4559-E427-B0E203341E5B}"/>
              </a:ext>
            </a:extLst>
          </p:cNvPr>
          <p:cNvSpPr txBox="1"/>
          <p:nvPr/>
        </p:nvSpPr>
        <p:spPr>
          <a:xfrm>
            <a:off x="533400" y="2857500"/>
            <a:ext cx="109728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No Meaningful Correlation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Credit scores vary significantly across all salary levels, indicating no visible relationship between income and creditworthiness.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5CD785-5184-40AA-ACA0-D7AF83B043F0}"/>
              </a:ext>
            </a:extLst>
          </p:cNvPr>
          <p:cNvSpPr txBox="1"/>
          <p:nvPr/>
        </p:nvSpPr>
        <p:spPr>
          <a:xfrm>
            <a:off x="533400" y="4100063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Broad Credit Score Distribution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 credit scores range from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350</a:t>
            </a:r>
            <a:r>
              <a:rPr lang="en-US" sz="213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to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850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regardless of salary level.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7CAE12-0E9A-3E74-BC93-969D95F89337}"/>
              </a:ext>
            </a:extLst>
          </p:cNvPr>
          <p:cNvSpPr txBox="1"/>
          <p:nvPr/>
        </p:nvSpPr>
        <p:spPr>
          <a:xfrm>
            <a:off x="533400" y="5056394"/>
            <a:ext cx="10972800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Income Independence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Customers with higher salaries do not consistently demonstrate stronger credit scores than lower-income customers.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DD69FB-C2A8-9E3C-64E7-2AE8FD60AD38}"/>
              </a:ext>
            </a:extLst>
          </p:cNvPr>
          <p:cNvSpPr txBox="1"/>
          <p:nvPr/>
        </p:nvSpPr>
        <p:spPr>
          <a:xfrm>
            <a:off x="533400" y="5971175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Weak Predictive Value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correlation between salary and credit score is nearly zero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 ≈ -0.001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making salary a poor predictor of credit behavior.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567C58-A534-E130-1302-62A6520DA316}"/>
              </a:ext>
            </a:extLst>
          </p:cNvPr>
          <p:cNvSpPr txBox="1"/>
          <p:nvPr/>
        </p:nvSpPr>
        <p:spPr>
          <a:xfrm>
            <a:off x="533400" y="6927506"/>
            <a:ext cx="10972800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Analytical Implication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Credit risk assessment should rely on behavioral and financial indicators rather than estimated salary alone.</a:t>
            </a:r>
          </a:p>
        </p:txBody>
      </p:sp>
    </p:spTree>
    <p:extLst>
      <p:ext uri="{BB962C8B-B14F-4D97-AF65-F5344CB8AC3E}">
        <p14:creationId xmlns:p14="http://schemas.microsoft.com/office/powerpoint/2010/main" val="1624046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9B6E2A-FAD5-4D0B-672F-25376FFC4C21}"/>
              </a:ext>
            </a:extLst>
          </p:cNvPr>
          <p:cNvSpPr txBox="1"/>
          <p:nvPr/>
        </p:nvSpPr>
        <p:spPr>
          <a:xfrm>
            <a:off x="1524000" y="3314700"/>
            <a:ext cx="161544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           </a:t>
            </a: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Dashboard - 2</a:t>
            </a:r>
          </a:p>
          <a:p>
            <a:pPr algn="l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Product Engagement</a:t>
            </a:r>
          </a:p>
        </p:txBody>
      </p:sp>
    </p:spTree>
    <p:extLst>
      <p:ext uri="{BB962C8B-B14F-4D97-AF65-F5344CB8AC3E}">
        <p14:creationId xmlns:p14="http://schemas.microsoft.com/office/powerpoint/2010/main" val="3224071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B597AC-7724-7392-50C9-1EA671595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019300"/>
            <a:ext cx="6612413" cy="6248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7B4325-7F8C-B085-BEC0-669B6C51CB56}"/>
              </a:ext>
            </a:extLst>
          </p:cNvPr>
          <p:cNvSpPr txBox="1"/>
          <p:nvPr/>
        </p:nvSpPr>
        <p:spPr>
          <a:xfrm>
            <a:off x="762000" y="723900"/>
            <a:ext cx="8991600" cy="2302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Credit card category </a:t>
            </a:r>
          </a:p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         usage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617C7-7A72-79D7-2A47-2EA6F1094133}"/>
              </a:ext>
            </a:extLst>
          </p:cNvPr>
          <p:cNvSpPr txBox="1"/>
          <p:nvPr/>
        </p:nvSpPr>
        <p:spPr>
          <a:xfrm>
            <a:off x="609600" y="3238500"/>
            <a:ext cx="10287000" cy="1486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Strong Credit Card Penetration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7,055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70.55%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 own a credit card, while only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2,945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29.45%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 do not, indicating high adoption of card-based banking products across the customer base.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3E1527-B3F5-0A6D-5847-A0208A9C7233}"/>
              </a:ext>
            </a:extLst>
          </p:cNvPr>
          <p:cNvSpPr txBox="1"/>
          <p:nvPr/>
        </p:nvSpPr>
        <p:spPr>
          <a:xfrm>
            <a:off x="572729" y="4937108"/>
            <a:ext cx="10323871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Customer Relationship Depth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high credit card ownership rate suggests successful product penetration; however, ownership alone is insufficient to ensure stronger customer loyalty or retention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DB431-71AE-5327-A183-CF4C90C43063}"/>
              </a:ext>
            </a:extLst>
          </p:cNvPr>
          <p:cNvSpPr txBox="1"/>
          <p:nvPr/>
        </p:nvSpPr>
        <p:spPr>
          <a:xfrm>
            <a:off x="575186" y="6266384"/>
            <a:ext cx="10321413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Revenue Contribution Potential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With over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70%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of customers holding credit cards, the bank has a large base for generating fee income, transaction revenue, and cross-selling opportunities</a:t>
            </a:r>
            <a:r>
              <a:rPr 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D431D9-BEC5-EFBF-DAAE-631A243F3E8C}"/>
              </a:ext>
            </a:extLst>
          </p:cNvPr>
          <p:cNvSpPr txBox="1"/>
          <p:nvPr/>
        </p:nvSpPr>
        <p:spPr>
          <a:xfrm>
            <a:off x="572728" y="7609179"/>
            <a:ext cx="10321413" cy="1445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Retention Effectiveness Concern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Despite strong adoption, churn analysis shows credit card ownership has minimal impact on reducing customer attrition, highlighting the need for broader engagement strategies.</a:t>
            </a:r>
          </a:p>
        </p:txBody>
      </p:sp>
    </p:spTree>
    <p:extLst>
      <p:ext uri="{BB962C8B-B14F-4D97-AF65-F5344CB8AC3E}">
        <p14:creationId xmlns:p14="http://schemas.microsoft.com/office/powerpoint/2010/main" val="3538041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447A2-2FFE-D159-5544-A6535C6F9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400300"/>
            <a:ext cx="6740969" cy="609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271139-5257-8A92-D200-5FAA99214707}"/>
              </a:ext>
            </a:extLst>
          </p:cNvPr>
          <p:cNvSpPr txBox="1"/>
          <p:nvPr/>
        </p:nvSpPr>
        <p:spPr>
          <a:xfrm>
            <a:off x="1143000" y="723900"/>
            <a:ext cx="9144000" cy="2302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Average credit score by product category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84565-B76E-2F55-7FD0-57F31017CE48}"/>
              </a:ext>
            </a:extLst>
          </p:cNvPr>
          <p:cNvSpPr txBox="1"/>
          <p:nvPr/>
        </p:nvSpPr>
        <p:spPr>
          <a:xfrm>
            <a:off x="533400" y="3314700"/>
            <a:ext cx="103632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Creditworthiness Advantage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Customers holding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product exhibit the highest average credit score, indicating a relatively stronger credit profile within this segment.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A155C-691A-1659-A139-8E9320BA0D26}"/>
              </a:ext>
            </a:extLst>
          </p:cNvPr>
          <p:cNvSpPr txBox="1"/>
          <p:nvPr/>
        </p:nvSpPr>
        <p:spPr>
          <a:xfrm>
            <a:off x="533400" y="4605660"/>
            <a:ext cx="103632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Moderate Product Holders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Customers with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2–3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products maintain stable credit scores, suggesting balanced financial behavior and responsible product utilization.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085A74-D4F6-4C8F-F6A8-48BB30F04E0B}"/>
              </a:ext>
            </a:extLst>
          </p:cNvPr>
          <p:cNvSpPr txBox="1"/>
          <p:nvPr/>
        </p:nvSpPr>
        <p:spPr>
          <a:xfrm>
            <a:off x="533400" y="5896620"/>
            <a:ext cx="103632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Multi-Product Risk Signal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-product segment records comparatively lower average credit scores, indicating that deeper product relationships do not necessarily translate into stronger credit quality.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B3655B-9861-6E3A-B575-09F65339E603}"/>
              </a:ext>
            </a:extLst>
          </p:cNvPr>
          <p:cNvSpPr txBox="1"/>
          <p:nvPr/>
        </p:nvSpPr>
        <p:spPr>
          <a:xfrm>
            <a:off x="533400" y="7187580"/>
            <a:ext cx="103632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Weak Product-Credit Correlation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Variations across product categories are relatively small, confirming that product count alone is not a strong predictor of customer creditworthiness.</a:t>
            </a:r>
          </a:p>
        </p:txBody>
      </p:sp>
    </p:spTree>
    <p:extLst>
      <p:ext uri="{BB962C8B-B14F-4D97-AF65-F5344CB8AC3E}">
        <p14:creationId xmlns:p14="http://schemas.microsoft.com/office/powerpoint/2010/main" val="3550939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0C79E0-7376-AA24-07CF-F1EF50C71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2400300"/>
            <a:ext cx="6938592" cy="6248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AA2F21-5B99-50C1-7DAD-5D4647157685}"/>
              </a:ext>
            </a:extLst>
          </p:cNvPr>
          <p:cNvSpPr txBox="1"/>
          <p:nvPr/>
        </p:nvSpPr>
        <p:spPr>
          <a:xfrm>
            <a:off x="762000" y="723900"/>
            <a:ext cx="7924800" cy="2302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Average balance by</a:t>
            </a:r>
          </a:p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NO. OF PRODUCTS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A4A5ED-F8ED-1A8E-9174-CBDC2617CC91}"/>
              </a:ext>
            </a:extLst>
          </p:cNvPr>
          <p:cNvSpPr txBox="1"/>
          <p:nvPr/>
        </p:nvSpPr>
        <p:spPr>
          <a:xfrm>
            <a:off x="533400" y="3238500"/>
            <a:ext cx="102870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Highest Value Customers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Customers with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products maintain the highest average balance of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$93.73K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representing the most financially valuable customer segment.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2ACFE-401C-A65C-C081-FCD61B6089F5}"/>
              </a:ext>
            </a:extLst>
          </p:cNvPr>
          <p:cNvSpPr txBox="1"/>
          <p:nvPr/>
        </p:nvSpPr>
        <p:spPr>
          <a:xfrm>
            <a:off x="533400" y="4605660"/>
            <a:ext cx="102870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Balance Growth Trend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Average balances generally increase with product ownership, rising from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$85.85K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product) to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$93.73K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products), indicating deeper banking relationships.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D72A88-1F71-4240-E8DB-95FA46DD2BE1}"/>
              </a:ext>
            </a:extLst>
          </p:cNvPr>
          <p:cNvSpPr txBox="1"/>
          <p:nvPr/>
        </p:nvSpPr>
        <p:spPr>
          <a:xfrm>
            <a:off x="533400" y="5972820"/>
            <a:ext cx="102870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Premium Customer Concentration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Multi-product customers collectively hold balances above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$90K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reflecting greater wealth concentration and revenue potential.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96234-AB5C-1C62-D275-97657CFFB9C4}"/>
              </a:ext>
            </a:extLst>
          </p:cNvPr>
          <p:cNvSpPr txBox="1"/>
          <p:nvPr/>
        </p:nvSpPr>
        <p:spPr>
          <a:xfrm>
            <a:off x="533400" y="7339980"/>
            <a:ext cx="102870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Cross-Selling Opportunity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Encouraging customers to adopt additional products may strengthen relationship depth and increase overall account balances over time.</a:t>
            </a:r>
          </a:p>
        </p:txBody>
      </p:sp>
    </p:spTree>
    <p:extLst>
      <p:ext uri="{BB962C8B-B14F-4D97-AF65-F5344CB8AC3E}">
        <p14:creationId xmlns:p14="http://schemas.microsoft.com/office/powerpoint/2010/main" val="2098555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C874C-6C59-0E90-7F8E-EC24F959E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1714500"/>
            <a:ext cx="6674232" cy="6629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78A30D-9CAC-EDB0-A2D7-58CD0AB28DD9}"/>
              </a:ext>
            </a:extLst>
          </p:cNvPr>
          <p:cNvSpPr txBox="1"/>
          <p:nvPr/>
        </p:nvSpPr>
        <p:spPr>
          <a:xfrm>
            <a:off x="685800" y="723900"/>
            <a:ext cx="9372600" cy="2302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Credit card ownership</a:t>
            </a:r>
          </a:p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   vs churn 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ED2B1-F9EB-D1C8-098D-99D4106D44CC}"/>
              </a:ext>
            </a:extLst>
          </p:cNvPr>
          <p:cNvSpPr txBox="1"/>
          <p:nvPr/>
        </p:nvSpPr>
        <p:spPr>
          <a:xfrm>
            <a:off x="533400" y="3314700"/>
            <a:ext cx="105156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Minimal Retention Impact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Credit card holders churn at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20.18%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while non-card holders churn at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20.81%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a difference of less than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percentage point.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330C1-2339-F8C6-9B69-04BCDA75D47F}"/>
              </a:ext>
            </a:extLst>
          </p:cNvPr>
          <p:cNvSpPr txBox="1"/>
          <p:nvPr/>
        </p:nvSpPr>
        <p:spPr>
          <a:xfrm>
            <a:off x="533400" y="4584885"/>
            <a:ext cx="10515600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Ineffective Churn Lever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negligible variation confirms that credit card ownership alone is not a meaningful driver of customer retention.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388635-B411-9F60-77B8-0AD4BCE11E48}"/>
              </a:ext>
            </a:extLst>
          </p:cNvPr>
          <p:cNvSpPr txBox="1"/>
          <p:nvPr/>
        </p:nvSpPr>
        <p:spPr>
          <a:xfrm>
            <a:off x="533401" y="5485738"/>
            <a:ext cx="10515599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Strategic Misalignment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Existing card-based loyalty programs appear insufficient to influence long-term customer behavior or reduce attrition risk.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815762-7CBC-861B-4CC2-DACCC74FF0B2}"/>
              </a:ext>
            </a:extLst>
          </p:cNvPr>
          <p:cNvSpPr txBox="1"/>
          <p:nvPr/>
        </p:nvSpPr>
        <p:spPr>
          <a:xfrm>
            <a:off x="533399" y="6386591"/>
            <a:ext cx="10515599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Alternative Focus Required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 activity levels and product engagement demonstrate significantly stronger relationships with churn than credit card ownership.</a:t>
            </a:r>
          </a:p>
        </p:txBody>
      </p:sp>
    </p:spTree>
    <p:extLst>
      <p:ext uri="{BB962C8B-B14F-4D97-AF65-F5344CB8AC3E}">
        <p14:creationId xmlns:p14="http://schemas.microsoft.com/office/powerpoint/2010/main" val="3311534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6D317F-BFA3-5266-90D8-0F620814E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400" y="2324100"/>
            <a:ext cx="6094941" cy="563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A3E107-EF96-6CA5-53FD-62AD976C6B02}"/>
              </a:ext>
            </a:extLst>
          </p:cNvPr>
          <p:cNvSpPr txBox="1"/>
          <p:nvPr/>
        </p:nvSpPr>
        <p:spPr>
          <a:xfrm>
            <a:off x="990600" y="723900"/>
            <a:ext cx="7467600" cy="2302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Active vs inactive</a:t>
            </a:r>
          </a:p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 customers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3D9F4B-B4A3-D520-65E0-FEA4A25D29E2}"/>
              </a:ext>
            </a:extLst>
          </p:cNvPr>
          <p:cNvSpPr txBox="1"/>
          <p:nvPr/>
        </p:nvSpPr>
        <p:spPr>
          <a:xfrm>
            <a:off x="609600" y="3314700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Customer Engagement Balance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customer base is almost evenly split between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5,151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active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51.51%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 and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4,849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inactive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48.49%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indicating significant scope for engagement improvement.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09E82-F2CA-0FC2-5518-161D308B6664}"/>
              </a:ext>
            </a:extLst>
          </p:cNvPr>
          <p:cNvSpPr txBox="1"/>
          <p:nvPr/>
        </p:nvSpPr>
        <p:spPr>
          <a:xfrm>
            <a:off x="609600" y="4655972"/>
            <a:ext cx="109728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Retention Risk Exposure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Nearly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out of every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is inactive, creating a large pool of customers vulnerable to future churn and reduced product utilization.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C4A18E-EEA5-53AC-0942-1388841AEEF9}"/>
              </a:ext>
            </a:extLst>
          </p:cNvPr>
          <p:cNvSpPr txBox="1"/>
          <p:nvPr/>
        </p:nvSpPr>
        <p:spPr>
          <a:xfrm>
            <a:off x="609600" y="5915373"/>
            <a:ext cx="109728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Behavioral Risk Indicator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Inactive customers record a significantly higher churn rate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26.9%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compared to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14.3%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for active customers, making activity level a key retention driver.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5BBFBF-3ADE-D70D-B339-DF2051328452}"/>
              </a:ext>
            </a:extLst>
          </p:cNvPr>
          <p:cNvSpPr txBox="1"/>
          <p:nvPr/>
        </p:nvSpPr>
        <p:spPr>
          <a:xfrm>
            <a:off x="629264" y="7216324"/>
            <a:ext cx="10953135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Revenue Protection Opportunity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3,547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inactive retained customers represent a substantial at-risk segment that can be targeted through reactivation and personalized engagement campaigns.</a:t>
            </a:r>
          </a:p>
        </p:txBody>
      </p:sp>
    </p:spTree>
    <p:extLst>
      <p:ext uri="{BB962C8B-B14F-4D97-AF65-F5344CB8AC3E}">
        <p14:creationId xmlns:p14="http://schemas.microsoft.com/office/powerpoint/2010/main" val="1509897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81CEC5-182D-D85D-D84C-4A521745B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247900"/>
            <a:ext cx="6810868" cy="647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FE70EA-5588-EE96-D7B6-556419FF7257}"/>
              </a:ext>
            </a:extLst>
          </p:cNvPr>
          <p:cNvSpPr txBox="1"/>
          <p:nvPr/>
        </p:nvSpPr>
        <p:spPr>
          <a:xfrm>
            <a:off x="27039" y="647700"/>
            <a:ext cx="10744200" cy="2302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Product holding count </a:t>
            </a:r>
          </a:p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      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393344-B0F8-1276-95AC-B182B1FEB37E}"/>
              </a:ext>
            </a:extLst>
          </p:cNvPr>
          <p:cNvSpPr txBox="1"/>
          <p:nvPr/>
        </p:nvSpPr>
        <p:spPr>
          <a:xfrm>
            <a:off x="457200" y="3390900"/>
            <a:ext cx="104394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Single-Product Dominance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portfolio is heavily concentrated in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5,084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single-product customers, representing the largest customer segment and the biggest retention opportunity.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6C615-F12E-5DC4-BAA4-C83F0AAF0375}"/>
              </a:ext>
            </a:extLst>
          </p:cNvPr>
          <p:cNvSpPr txBox="1"/>
          <p:nvPr/>
        </p:nvSpPr>
        <p:spPr>
          <a:xfrm>
            <a:off x="457198" y="4655574"/>
            <a:ext cx="104394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Limited Product Penetration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Around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4,590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 hold 2 products, while only a small proportion maintain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or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products, indicating shallow relationship depth across the customer base.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43847F-101D-C0D5-2201-C81B23802137}"/>
              </a:ext>
            </a:extLst>
          </p:cNvPr>
          <p:cNvSpPr txBox="1"/>
          <p:nvPr/>
        </p:nvSpPr>
        <p:spPr>
          <a:xfrm>
            <a:off x="457198" y="5920248"/>
            <a:ext cx="10515601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Cross-Sell Potential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More than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of customers currently use only one banking product, providing a substantial opportunity for targeted cross-selling initiatives.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6FFBA0-5BB8-E52E-DAB1-76EF91183A6C}"/>
              </a:ext>
            </a:extLst>
          </p:cNvPr>
          <p:cNvSpPr txBox="1"/>
          <p:nvPr/>
        </p:nvSpPr>
        <p:spPr>
          <a:xfrm>
            <a:off x="457198" y="7143372"/>
            <a:ext cx="10439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Retention Vulnerability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Single-product customers experience the highest churn rate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27.7%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compared to just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7.6%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among customers holding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products.</a:t>
            </a:r>
          </a:p>
        </p:txBody>
      </p:sp>
    </p:spTree>
    <p:extLst>
      <p:ext uri="{BB962C8B-B14F-4D97-AF65-F5344CB8AC3E}">
        <p14:creationId xmlns:p14="http://schemas.microsoft.com/office/powerpoint/2010/main" val="1264951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801DE8-E173-6C56-682C-8A2C054FABA1}"/>
              </a:ext>
            </a:extLst>
          </p:cNvPr>
          <p:cNvSpPr txBox="1"/>
          <p:nvPr/>
        </p:nvSpPr>
        <p:spPr>
          <a:xfrm>
            <a:off x="1295400" y="3238500"/>
            <a:ext cx="137922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      </a:t>
            </a: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Dashboard – 3</a:t>
            </a:r>
          </a:p>
          <a:p>
            <a:pPr algn="l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       Churn analysis</a:t>
            </a:r>
          </a:p>
        </p:txBody>
      </p:sp>
    </p:spTree>
    <p:extLst>
      <p:ext uri="{BB962C8B-B14F-4D97-AF65-F5344CB8AC3E}">
        <p14:creationId xmlns:p14="http://schemas.microsoft.com/office/powerpoint/2010/main" val="2240688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EE186-6459-1976-B3C1-99EEC0458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095500"/>
            <a:ext cx="6615454" cy="6629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EFD4EE-D940-2278-C6E7-4849B9A92AEA}"/>
              </a:ext>
            </a:extLst>
          </p:cNvPr>
          <p:cNvSpPr txBox="1"/>
          <p:nvPr/>
        </p:nvSpPr>
        <p:spPr>
          <a:xfrm>
            <a:off x="533400" y="1104900"/>
            <a:ext cx="10972800" cy="113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Churn rate by customers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B58D3-E319-317A-89A4-EFDDC6C73A1B}"/>
              </a:ext>
            </a:extLst>
          </p:cNvPr>
          <p:cNvSpPr txBox="1"/>
          <p:nvPr/>
        </p:nvSpPr>
        <p:spPr>
          <a:xfrm>
            <a:off x="533400" y="2952135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Gender-Based Attrition Gap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Female customers record a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25.1%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churn rate, significantly higher than males at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16.5%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indicating a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52%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higher likelihood of exit.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0E8158-9B50-F91A-883A-874A18B8BFC9}"/>
              </a:ext>
            </a:extLst>
          </p:cNvPr>
          <p:cNvSpPr txBox="1"/>
          <p:nvPr/>
        </p:nvSpPr>
        <p:spPr>
          <a:xfrm>
            <a:off x="533400" y="4251421"/>
            <a:ext cx="1050331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Retention Performance Concern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Despite representing only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45.4%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of the customer base, female customers contribute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55.9%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of total churn, creating a disproportionate retention challenge.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62E63-BC19-4EFD-BD8B-B0827C457017}"/>
              </a:ext>
            </a:extLst>
          </p:cNvPr>
          <p:cNvSpPr txBox="1"/>
          <p:nvPr/>
        </p:nvSpPr>
        <p:spPr>
          <a:xfrm>
            <a:off x="533400" y="5509157"/>
            <a:ext cx="1042711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Customer Experience Signal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persistent churn gap suggests potential differences in product satisfaction, engagement levels, or service expectations across genders.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057F6A-C9E2-FAF0-1C2C-64EDEC03EF0C}"/>
              </a:ext>
            </a:extLst>
          </p:cNvPr>
          <p:cNvSpPr txBox="1"/>
          <p:nvPr/>
        </p:nvSpPr>
        <p:spPr>
          <a:xfrm>
            <a:off x="565354" y="6725343"/>
            <a:ext cx="10395155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Revenue Risk Concentration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Higher female churn rates amplify financial exposure, particularly among high-value customer segments and older demographics.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377FD-9B07-5C02-5074-9343267EBF0C}"/>
              </a:ext>
            </a:extLst>
          </p:cNvPr>
          <p:cNvSpPr txBox="1"/>
          <p:nvPr/>
        </p:nvSpPr>
        <p:spPr>
          <a:xfrm>
            <a:off x="533399" y="7941529"/>
            <a:ext cx="10503309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Strategic Priority Segment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/>
              <a:t>–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Female customers should be prioritized within retention initiatives, especially when combined with high-risk factors such as age and geography.</a:t>
            </a:r>
          </a:p>
        </p:txBody>
      </p:sp>
    </p:spTree>
    <p:extLst>
      <p:ext uri="{BB962C8B-B14F-4D97-AF65-F5344CB8AC3E}">
        <p14:creationId xmlns:p14="http://schemas.microsoft.com/office/powerpoint/2010/main" val="1136552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3E3DA7-DEF7-92C3-6EE9-7FEC737CB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974" y="2095500"/>
            <a:ext cx="6660718" cy="6629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5C9261-C32A-CDC5-768B-97F42B6B362F}"/>
              </a:ext>
            </a:extLst>
          </p:cNvPr>
          <p:cNvSpPr txBox="1"/>
          <p:nvPr/>
        </p:nvSpPr>
        <p:spPr>
          <a:xfrm>
            <a:off x="533400" y="1181100"/>
            <a:ext cx="10744200" cy="113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Churn rate by location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DD8216-E7D1-47D2-9ECC-9A1635FA6C1E}"/>
              </a:ext>
            </a:extLst>
          </p:cNvPr>
          <p:cNvSpPr txBox="1"/>
          <p:nvPr/>
        </p:nvSpPr>
        <p:spPr>
          <a:xfrm>
            <a:off x="533400" y="278130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Geographic Risk Concentration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Germany records the highest churn rate at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32.4%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nearly double that of France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16.2%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 and Spain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16.7%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3E3FD-A52B-6343-D6F9-D66635E3346A}"/>
              </a:ext>
            </a:extLst>
          </p:cNvPr>
          <p:cNvSpPr txBox="1"/>
          <p:nvPr/>
        </p:nvSpPr>
        <p:spPr>
          <a:xfrm>
            <a:off x="533400" y="3771900"/>
            <a:ext cx="105156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Performance Benchmark Gap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16.2%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point difference between Germany and France highlights substantial regional variation in customer retention effectiveness.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257EC0-317B-5902-D26E-8556FB2FE98B}"/>
              </a:ext>
            </a:extLst>
          </p:cNvPr>
          <p:cNvSpPr txBox="1"/>
          <p:nvPr/>
        </p:nvSpPr>
        <p:spPr>
          <a:xfrm>
            <a:off x="533400" y="5048732"/>
            <a:ext cx="105156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Financial Exposure Hotspot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Germany contributes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814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churned customers despite accounting for only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25.1%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of total customers, creating disproportionate business risk.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9B65DB-5A1F-DC61-3CB8-6CA8D5C260CC}"/>
              </a:ext>
            </a:extLst>
          </p:cNvPr>
          <p:cNvSpPr txBox="1"/>
          <p:nvPr/>
        </p:nvSpPr>
        <p:spPr>
          <a:xfrm>
            <a:off x="548148" y="6367114"/>
            <a:ext cx="10500852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Retention Stability Leader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France demonstrates the strongest retention performance, maintaining the lowest churn rate and the most stable customer portfolio.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7081F8-B43C-E688-49CA-AC4BB01A3820}"/>
              </a:ext>
            </a:extLst>
          </p:cNvPr>
          <p:cNvSpPr txBox="1"/>
          <p:nvPr/>
        </p:nvSpPr>
        <p:spPr>
          <a:xfrm>
            <a:off x="548148" y="7643946"/>
            <a:ext cx="10500852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Market-Specific Challenge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results indicate that churn drivers are not uniform across regions and require targeted geographic retention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1644239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19F0E2-25E9-F723-C379-66DBCEB40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200" y="2240467"/>
            <a:ext cx="6439384" cy="6248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7EF37C-3635-04F8-8FC4-85FDCA021ED4}"/>
              </a:ext>
            </a:extLst>
          </p:cNvPr>
          <p:cNvSpPr txBox="1"/>
          <p:nvPr/>
        </p:nvSpPr>
        <p:spPr>
          <a:xfrm>
            <a:off x="304800" y="876300"/>
            <a:ext cx="12115800" cy="113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Churn rate by salary bucket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0E5801-1CA2-A972-2C8F-7E7A39EA3226}"/>
              </a:ext>
            </a:extLst>
          </p:cNvPr>
          <p:cNvSpPr txBox="1"/>
          <p:nvPr/>
        </p:nvSpPr>
        <p:spPr>
          <a:xfrm>
            <a:off x="533400" y="2552700"/>
            <a:ext cx="107442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Minimal Salary Impact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Churn rates remain tightly clustered between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19%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21%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across all salary groups, indicating limited influence of income on attrition.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05484F-CE41-C816-8B5A-9BD87622C88B}"/>
              </a:ext>
            </a:extLst>
          </p:cNvPr>
          <p:cNvSpPr txBox="1"/>
          <p:nvPr/>
        </p:nvSpPr>
        <p:spPr>
          <a:xfrm>
            <a:off x="533400" y="3838543"/>
            <a:ext cx="107442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Highest-Risk Income Segment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Customers earning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$151K–$200K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exhibit the highest churn rate at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21%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though the difference is marginal.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4D3726-AD6E-9E76-96B4-B65556025CCB}"/>
              </a:ext>
            </a:extLst>
          </p:cNvPr>
          <p:cNvSpPr txBox="1"/>
          <p:nvPr/>
        </p:nvSpPr>
        <p:spPr>
          <a:xfrm>
            <a:off x="533400" y="5124386"/>
            <a:ext cx="107442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Consistent Behavioral Pattern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Lower and higher salary customers demonstrate similar churn tendencies, suggesting that financial income alone does not drive retention.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F42372-A4D0-D7D3-E29F-19F32DE5C525}"/>
              </a:ext>
            </a:extLst>
          </p:cNvPr>
          <p:cNvSpPr txBox="1"/>
          <p:nvPr/>
        </p:nvSpPr>
        <p:spPr>
          <a:xfrm>
            <a:off x="538316" y="6367450"/>
            <a:ext cx="10739284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Weak Predictive Power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narrow variation across salary buckets confirms salary is not a reliable standalone predictor of customer exits.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6FBEA0-B97B-2BBA-BFF0-320691074D98}"/>
              </a:ext>
            </a:extLst>
          </p:cNvPr>
          <p:cNvSpPr txBox="1"/>
          <p:nvPr/>
        </p:nvSpPr>
        <p:spPr>
          <a:xfrm>
            <a:off x="533400" y="7282732"/>
            <a:ext cx="10739284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Strategic Insight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Retention strategies should focus on engagement, activity, and product ownership rather than salary-based segmentation.</a:t>
            </a:r>
          </a:p>
        </p:txBody>
      </p:sp>
    </p:spTree>
    <p:extLst>
      <p:ext uri="{BB962C8B-B14F-4D97-AF65-F5344CB8AC3E}">
        <p14:creationId xmlns:p14="http://schemas.microsoft.com/office/powerpoint/2010/main" val="2660326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79DDAF-C3E9-FCEC-0754-19A5B4BBC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2276108"/>
            <a:ext cx="6269165" cy="60677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129F5A-6488-BF97-A3ED-CED7BF48D07A}"/>
              </a:ext>
            </a:extLst>
          </p:cNvPr>
          <p:cNvSpPr txBox="1"/>
          <p:nvPr/>
        </p:nvSpPr>
        <p:spPr>
          <a:xfrm>
            <a:off x="457200" y="1104900"/>
            <a:ext cx="10668000" cy="113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Exit category breakdown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4349B-515E-FFEC-7E6D-FCCFAA00A83C}"/>
              </a:ext>
            </a:extLst>
          </p:cNvPr>
          <p:cNvSpPr txBox="1"/>
          <p:nvPr/>
        </p:nvSpPr>
        <p:spPr>
          <a:xfrm>
            <a:off x="464574" y="2705100"/>
            <a:ext cx="110416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Overall Churn Position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Out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10,000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customers,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2,037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exited, resulting in an overall churn rate of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20.37%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657761-EC75-D428-1FC2-4EAE70149F05}"/>
              </a:ext>
            </a:extLst>
          </p:cNvPr>
          <p:cNvSpPr txBox="1"/>
          <p:nvPr/>
        </p:nvSpPr>
        <p:spPr>
          <a:xfrm>
            <a:off x="469490" y="3695700"/>
            <a:ext cx="106557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Strong Retention Base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bank successfully retained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7,963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79.63%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demonstrating a solid but improvable retention foundation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A349D5-A3A8-BB4B-4022-57216FF681A7}"/>
              </a:ext>
            </a:extLst>
          </p:cNvPr>
          <p:cNvSpPr txBox="1"/>
          <p:nvPr/>
        </p:nvSpPr>
        <p:spPr>
          <a:xfrm>
            <a:off x="491612" y="4684625"/>
            <a:ext cx="10633587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One-in-Five Attrition Reality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in every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customers leaves the bank, highlighting a significant long-term retention challenge.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CE1BB9-6F3B-EA1B-EC30-39A62172599B}"/>
              </a:ext>
            </a:extLst>
          </p:cNvPr>
          <p:cNvSpPr txBox="1"/>
          <p:nvPr/>
        </p:nvSpPr>
        <p:spPr>
          <a:xfrm>
            <a:off x="494069" y="5632000"/>
            <a:ext cx="10631129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Revenue Protection Opportunity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Even a modest reduction in churn could preserve hundreds of customer relationships and substantial deposit value.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1F06BB-6F8E-2AAD-6102-78EB80CDE811}"/>
              </a:ext>
            </a:extLst>
          </p:cNvPr>
          <p:cNvSpPr txBox="1"/>
          <p:nvPr/>
        </p:nvSpPr>
        <p:spPr>
          <a:xfrm>
            <a:off x="491611" y="6907157"/>
            <a:ext cx="10631129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Business Performance Indicator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churn rate serves as a critical KPI reflecting customer satisfaction, engagement, and competitive positioning.</a:t>
            </a:r>
          </a:p>
        </p:txBody>
      </p:sp>
    </p:spTree>
    <p:extLst>
      <p:ext uri="{BB962C8B-B14F-4D97-AF65-F5344CB8AC3E}">
        <p14:creationId xmlns:p14="http://schemas.microsoft.com/office/powerpoint/2010/main" val="368577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5A6F99-A2DF-4BC1-C73A-BC0E31F1B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58483"/>
            <a:ext cx="6586066" cy="55700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C24B08-FE06-EFE1-222E-903BDCBD2EBA}"/>
              </a:ext>
            </a:extLst>
          </p:cNvPr>
          <p:cNvSpPr txBox="1"/>
          <p:nvPr/>
        </p:nvSpPr>
        <p:spPr>
          <a:xfrm>
            <a:off x="685800" y="1181100"/>
            <a:ext cx="9144000" cy="113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Churn rate by tenure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C12372-5B38-39D5-2333-B1770D715A01}"/>
              </a:ext>
            </a:extLst>
          </p:cNvPr>
          <p:cNvSpPr txBox="1"/>
          <p:nvPr/>
        </p:nvSpPr>
        <p:spPr>
          <a:xfrm>
            <a:off x="533400" y="262890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Peak Attrition Period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 churn reaches its highest level of approximately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21.9%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at Year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marking a critical retention breakpoint.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3AACE-56AD-4D04-8BAC-28CCBA157213}"/>
              </a:ext>
            </a:extLst>
          </p:cNvPr>
          <p:cNvSpPr txBox="1"/>
          <p:nvPr/>
        </p:nvSpPr>
        <p:spPr>
          <a:xfrm>
            <a:off x="533400" y="3619500"/>
            <a:ext cx="10515600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Limited Loyalty Effect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Churn rates remain relatively stable between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19%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22%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across tenure groups, indicating tenure alone does not ensure loyalty.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2F769-9A4E-F624-6BAD-477CD1DDF16D}"/>
              </a:ext>
            </a:extLst>
          </p:cNvPr>
          <p:cNvSpPr txBox="1"/>
          <p:nvPr/>
        </p:nvSpPr>
        <p:spPr>
          <a:xfrm>
            <a:off x="533400" y="4937882"/>
            <a:ext cx="10515600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Mid-Lifecycle Vulnerability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Customers around Years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5–6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appear more susceptible to leaving, suggesting declining engagement over time.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5384D-3D23-FA89-CA70-0D2FDB6D896F}"/>
              </a:ext>
            </a:extLst>
          </p:cNvPr>
          <p:cNvSpPr txBox="1"/>
          <p:nvPr/>
        </p:nvSpPr>
        <p:spPr>
          <a:xfrm>
            <a:off x="533400" y="5886932"/>
            <a:ext cx="10515600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Retention Intervention Opportunity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Targeted loyalty programs and relationship reviews around the fifth year could help reduce customer exits.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EBB940-683A-9208-73B6-433D5AEE700A}"/>
              </a:ext>
            </a:extLst>
          </p:cNvPr>
          <p:cNvSpPr txBox="1"/>
          <p:nvPr/>
        </p:nvSpPr>
        <p:spPr>
          <a:xfrm>
            <a:off x="533400" y="6835982"/>
            <a:ext cx="105156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Strategic Insight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Long tenure does not automatically translate into stronger retention, reinforcing the need for proactive engagement strategies.</a:t>
            </a:r>
          </a:p>
        </p:txBody>
      </p:sp>
    </p:spTree>
    <p:extLst>
      <p:ext uri="{BB962C8B-B14F-4D97-AF65-F5344CB8AC3E}">
        <p14:creationId xmlns:p14="http://schemas.microsoft.com/office/powerpoint/2010/main" val="898933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E9825-4450-9B45-78A1-F5DDFCF21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058" y="2171700"/>
            <a:ext cx="6270849" cy="609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DB00F7-4A37-2B70-113D-A5AAB06922C9}"/>
              </a:ext>
            </a:extLst>
          </p:cNvPr>
          <p:cNvSpPr txBox="1"/>
          <p:nvPr/>
        </p:nvSpPr>
        <p:spPr>
          <a:xfrm>
            <a:off x="459658" y="876300"/>
            <a:ext cx="11201400" cy="113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Credit score by exit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A8271-3B97-02E5-110F-45025E4DEB30}"/>
              </a:ext>
            </a:extLst>
          </p:cNvPr>
          <p:cNvSpPr txBox="1"/>
          <p:nvPr/>
        </p:nvSpPr>
        <p:spPr>
          <a:xfrm>
            <a:off x="459658" y="2400300"/>
            <a:ext cx="108941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Credit Score Differential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Retained customers maintain a slightly higher average credit score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~657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 compared to churned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~650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7D7DD-45A9-23CC-0DAF-1FB38031BD92}"/>
              </a:ext>
            </a:extLst>
          </p:cNvPr>
          <p:cNvSpPr txBox="1"/>
          <p:nvPr/>
        </p:nvSpPr>
        <p:spPr>
          <a:xfrm>
            <a:off x="459658" y="3390900"/>
            <a:ext cx="10894142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Moderate Risk Indicator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The small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6–7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point gap suggests credit score influences churn but is not a dominant standalone factor.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F10AC3-A1CF-E31E-645C-EB9E455DA492}"/>
              </a:ext>
            </a:extLst>
          </p:cNvPr>
          <p:cNvSpPr txBox="1"/>
          <p:nvPr/>
        </p:nvSpPr>
        <p:spPr>
          <a:xfrm>
            <a:off x="459658" y="4339950"/>
            <a:ext cx="10894142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Behavioral Factors Dominate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Variables such as activity status and product ownership demonstrate stronger relationships with churn than credit score alone.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4E299A-8800-FE29-36DE-673A7E8BC47B}"/>
              </a:ext>
            </a:extLst>
          </p:cNvPr>
          <p:cNvSpPr txBox="1"/>
          <p:nvPr/>
        </p:nvSpPr>
        <p:spPr>
          <a:xfrm>
            <a:off x="459658" y="5616782"/>
            <a:ext cx="10894142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Portfolio Stability Signal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Both retained and churned customers maintain scores within a healthy credit range, indicating overall portfolio quality.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5B7FE1-2207-3E6A-CF3A-EEB833E81E14}"/>
              </a:ext>
            </a:extLst>
          </p:cNvPr>
          <p:cNvSpPr txBox="1"/>
          <p:nvPr/>
        </p:nvSpPr>
        <p:spPr>
          <a:xfrm>
            <a:off x="459658" y="6565832"/>
            <a:ext cx="10894142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Supporting Predictive Variable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– Credit score should be used alongside customer activity and engagement metrics to improve churn risk assessment accuracy.</a:t>
            </a:r>
          </a:p>
        </p:txBody>
      </p:sp>
    </p:spTree>
    <p:extLst>
      <p:ext uri="{BB962C8B-B14F-4D97-AF65-F5344CB8AC3E}">
        <p14:creationId xmlns:p14="http://schemas.microsoft.com/office/powerpoint/2010/main" val="741922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9B914-926F-35C6-C5C5-E4DAD0F5663C}"/>
              </a:ext>
            </a:extLst>
          </p:cNvPr>
          <p:cNvSpPr txBox="1"/>
          <p:nvPr/>
        </p:nvSpPr>
        <p:spPr>
          <a:xfrm>
            <a:off x="457200" y="419100"/>
            <a:ext cx="17526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DASHBOARD &amp; VISUALIZATION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CCC29D-1E80-3B3A-C834-5A6FAB894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86086"/>
            <a:ext cx="17602200" cy="843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225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6DB967-1AB8-7927-1C53-4B7C7393A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2900"/>
            <a:ext cx="17678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39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BAC347-3398-CF5C-071E-A3E5A716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0500"/>
            <a:ext cx="17830799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2044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>
            <a:extLst>
              <a:ext uri="{FF2B5EF4-FFF2-40B4-BE49-F238E27FC236}">
                <a16:creationId xmlns:a16="http://schemas.microsoft.com/office/drawing/2014/main" id="{BC7DF827-E31A-5551-4144-1EE315AEDC2A}"/>
              </a:ext>
            </a:extLst>
          </p:cNvPr>
          <p:cNvGrpSpPr/>
          <p:nvPr/>
        </p:nvGrpSpPr>
        <p:grpSpPr>
          <a:xfrm>
            <a:off x="2590800" y="-9715500"/>
            <a:ext cx="13596124" cy="13596124"/>
            <a:chOff x="0" y="0"/>
            <a:chExt cx="812800" cy="812800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9E4F1120-21E7-26B3-970E-480BDD99D78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2F7"/>
            </a:solidFill>
          </p:spPr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ECD64DF7-8044-B7DF-1C91-8BEC9200371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4EC144E-2D0A-C22A-742C-37F665516CAA}"/>
              </a:ext>
            </a:extLst>
          </p:cNvPr>
          <p:cNvSpPr txBox="1"/>
          <p:nvPr/>
        </p:nvSpPr>
        <p:spPr>
          <a:xfrm>
            <a:off x="457200" y="419100"/>
            <a:ext cx="175260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ANALYTICAL APPROACH &amp; METHODOLOGY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FB8BF-3D43-2855-5224-7947D28AA7B6}"/>
              </a:ext>
            </a:extLst>
          </p:cNvPr>
          <p:cNvSpPr txBox="1"/>
          <p:nvPr/>
        </p:nvSpPr>
        <p:spPr>
          <a:xfrm>
            <a:off x="821563" y="3615465"/>
            <a:ext cx="9239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Business Understanding: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33D82F-8B62-154E-2EB7-9ADC969A4DB0}"/>
              </a:ext>
            </a:extLst>
          </p:cNvPr>
          <p:cNvSpPr txBox="1"/>
          <p:nvPr/>
        </p:nvSpPr>
        <p:spPr>
          <a:xfrm>
            <a:off x="821562" y="4381500"/>
            <a:ext cx="14090725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Defined customer churn as the primary business challenge and established retention improvement as the key objective, focusing on reducing the current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20.37%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 rate</a:t>
            </a:r>
            <a:r>
              <a:rPr lang="en-US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11DABB-7EC8-50FF-47E1-6BB0B6DF2370}"/>
              </a:ext>
            </a:extLst>
          </p:cNvPr>
          <p:cNvSpPr txBox="1"/>
          <p:nvPr/>
        </p:nvSpPr>
        <p:spPr>
          <a:xfrm>
            <a:off x="821562" y="5495533"/>
            <a:ext cx="9239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Data Review &amp; Validation: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0AA12D-8ABE-72CE-5719-5619DC860BDF}"/>
              </a:ext>
            </a:extLst>
          </p:cNvPr>
          <p:cNvSpPr txBox="1"/>
          <p:nvPr/>
        </p:nvSpPr>
        <p:spPr>
          <a:xfrm>
            <a:off x="821561" y="6261535"/>
            <a:ext cx="14090725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Reviewed and validated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10,000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 records across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relational tables to ensure data accuracy, consistency, and reliability for analysis.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3ECE7F-54E1-3C26-8B3F-D287905B6D1B}"/>
              </a:ext>
            </a:extLst>
          </p:cNvPr>
          <p:cNvSpPr txBox="1"/>
          <p:nvPr/>
        </p:nvSpPr>
        <p:spPr>
          <a:xfrm>
            <a:off x="821561" y="7375568"/>
            <a:ext cx="10075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Customer &amp; Business Performance Analysis: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909D2F-D437-E4C8-C861-B8A5E39C17D3}"/>
              </a:ext>
            </a:extLst>
          </p:cNvPr>
          <p:cNvSpPr txBox="1"/>
          <p:nvPr/>
        </p:nvSpPr>
        <p:spPr>
          <a:xfrm>
            <a:off x="851058" y="8141570"/>
            <a:ext cx="14061227" cy="747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Assessed customer demographics, geography, financial attributes, product ownership, and activity levels to identify key patterns influencing customer retention.</a:t>
            </a:r>
          </a:p>
        </p:txBody>
      </p:sp>
    </p:spTree>
    <p:extLst>
      <p:ext uri="{BB962C8B-B14F-4D97-AF65-F5344CB8AC3E}">
        <p14:creationId xmlns:p14="http://schemas.microsoft.com/office/powerpoint/2010/main" val="29066292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0FECB-E1EE-153F-00EE-2C17D44BCF81}"/>
              </a:ext>
            </a:extLst>
          </p:cNvPr>
          <p:cNvSpPr txBox="1"/>
          <p:nvPr/>
        </p:nvSpPr>
        <p:spPr>
          <a:xfrm>
            <a:off x="990600" y="14097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KPI Development &amp; Dashboard Reporting: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01804F-3F8D-B1E1-8FBA-524B01400733}"/>
              </a:ext>
            </a:extLst>
          </p:cNvPr>
          <p:cNvSpPr txBox="1"/>
          <p:nvPr/>
        </p:nvSpPr>
        <p:spPr>
          <a:xfrm>
            <a:off x="995516" y="2171700"/>
            <a:ext cx="14396884" cy="107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Developed business KPIs and calculated metrics including Total Customers, Churned Customers, Churn Rate, Average Balance, and Average Credit Score to support interactive dashboard reporting and performance monitoring.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03E71-3ABD-91F6-A2DE-CBB1D5BC5E02}"/>
              </a:ext>
            </a:extLst>
          </p:cNvPr>
          <p:cNvSpPr txBox="1"/>
          <p:nvPr/>
        </p:nvSpPr>
        <p:spPr>
          <a:xfrm>
            <a:off x="990600" y="35433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Customer Risk Assessment &amp; Strategic Planning: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3E6AF-B846-D3E6-7010-A18D196B8448}"/>
              </a:ext>
            </a:extLst>
          </p:cNvPr>
          <p:cNvSpPr txBox="1"/>
          <p:nvPr/>
        </p:nvSpPr>
        <p:spPr>
          <a:xfrm>
            <a:off x="990600" y="4258364"/>
            <a:ext cx="14396884" cy="747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Identified high-risk customer segments and translated analytical findings into actionable retention strategies to improve customer engagement, loyalty, and long-term business value.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1F0CFE-6E15-D940-733F-9C1C60A7D37A}"/>
              </a:ext>
            </a:extLst>
          </p:cNvPr>
          <p:cNvSpPr txBox="1"/>
          <p:nvPr/>
        </p:nvSpPr>
        <p:spPr>
          <a:xfrm>
            <a:off x="990600" y="5675671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Methodology Crux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A968DE-06B3-3A7F-65B1-8223870BE865}"/>
              </a:ext>
            </a:extLst>
          </p:cNvPr>
          <p:cNvSpPr txBox="1"/>
          <p:nvPr/>
        </p:nvSpPr>
        <p:spPr>
          <a:xfrm>
            <a:off x="990600" y="6688487"/>
            <a:ext cx="14396884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A business-focused analytical framework combining customer analysis, KPI development, dashboard reporting, and risk assessment was used to transform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10,000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customer records into actionable retention insights and strategic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8715388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AC32E2AA-FCE7-DAE8-D397-98A075E38FC9}"/>
              </a:ext>
            </a:extLst>
          </p:cNvPr>
          <p:cNvGrpSpPr/>
          <p:nvPr/>
        </p:nvGrpSpPr>
        <p:grpSpPr>
          <a:xfrm>
            <a:off x="304800" y="120908"/>
            <a:ext cx="17754600" cy="2050791"/>
            <a:chOff x="0" y="0"/>
            <a:chExt cx="672905" cy="159846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D7056C8-DCF6-AA3A-0113-3214414B2CAB}"/>
                </a:ext>
              </a:extLst>
            </p:cNvPr>
            <p:cNvSpPr/>
            <p:nvPr/>
          </p:nvSpPr>
          <p:spPr>
            <a:xfrm>
              <a:off x="0" y="0"/>
              <a:ext cx="672905" cy="159846"/>
            </a:xfrm>
            <a:custGeom>
              <a:avLst/>
              <a:gdLst/>
              <a:ahLst/>
              <a:cxnLst/>
              <a:rect l="l" t="t" r="r" b="b"/>
              <a:pathLst>
                <a:path w="672905" h="159846">
                  <a:moveTo>
                    <a:pt x="79923" y="0"/>
                  </a:moveTo>
                  <a:lnTo>
                    <a:pt x="592982" y="0"/>
                  </a:lnTo>
                  <a:cubicBezTo>
                    <a:pt x="614179" y="0"/>
                    <a:pt x="634507" y="8420"/>
                    <a:pt x="649496" y="23409"/>
                  </a:cubicBezTo>
                  <a:cubicBezTo>
                    <a:pt x="664484" y="38397"/>
                    <a:pt x="672905" y="58726"/>
                    <a:pt x="672905" y="79923"/>
                  </a:cubicBezTo>
                  <a:lnTo>
                    <a:pt x="672905" y="79923"/>
                  </a:lnTo>
                  <a:cubicBezTo>
                    <a:pt x="672905" y="124063"/>
                    <a:pt x="637122" y="159846"/>
                    <a:pt x="592982" y="159846"/>
                  </a:cubicBezTo>
                  <a:lnTo>
                    <a:pt x="79923" y="159846"/>
                  </a:lnTo>
                  <a:cubicBezTo>
                    <a:pt x="58726" y="159846"/>
                    <a:pt x="38397" y="151425"/>
                    <a:pt x="23409" y="136437"/>
                  </a:cubicBezTo>
                  <a:cubicBezTo>
                    <a:pt x="8420" y="121448"/>
                    <a:pt x="0" y="101120"/>
                    <a:pt x="0" y="79923"/>
                  </a:cubicBezTo>
                  <a:lnTo>
                    <a:pt x="0" y="79923"/>
                  </a:lnTo>
                  <a:cubicBezTo>
                    <a:pt x="0" y="58726"/>
                    <a:pt x="8420" y="38397"/>
                    <a:pt x="23409" y="23409"/>
                  </a:cubicBezTo>
                  <a:cubicBezTo>
                    <a:pt x="38397" y="8420"/>
                    <a:pt x="58726" y="0"/>
                    <a:pt x="79923" y="0"/>
                  </a:cubicBezTo>
                  <a:close/>
                </a:path>
              </a:pathLst>
            </a:custGeom>
            <a:solidFill>
              <a:srgbClr val="EEE2F7"/>
            </a:solidFill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A7A6263C-81A4-187A-5446-53BF6D8236B5}"/>
                </a:ext>
              </a:extLst>
            </p:cNvPr>
            <p:cNvSpPr txBox="1"/>
            <p:nvPr/>
          </p:nvSpPr>
          <p:spPr>
            <a:xfrm>
              <a:off x="0" y="-38100"/>
              <a:ext cx="672905" cy="197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866A627-8054-2AA4-0792-7F921FADFEBB}"/>
              </a:ext>
            </a:extLst>
          </p:cNvPr>
          <p:cNvSpPr txBox="1"/>
          <p:nvPr/>
        </p:nvSpPr>
        <p:spPr>
          <a:xfrm>
            <a:off x="533400" y="562810"/>
            <a:ext cx="17526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STRATEGIC RECOMMENDATIONS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9F9F12-3D77-E245-21CA-8E392D23E60C}"/>
              </a:ext>
            </a:extLst>
          </p:cNvPr>
          <p:cNvSpPr txBox="1"/>
          <p:nvPr/>
        </p:nvSpPr>
        <p:spPr>
          <a:xfrm>
            <a:off x="565355" y="2933700"/>
            <a:ext cx="64892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Predictive Risk Management: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560AAC-4EDB-B0E2-8D80-B27FF732D38C}"/>
              </a:ext>
            </a:extLst>
          </p:cNvPr>
          <p:cNvSpPr txBox="1"/>
          <p:nvPr/>
        </p:nvSpPr>
        <p:spPr>
          <a:xfrm>
            <a:off x="565354" y="3742636"/>
            <a:ext cx="13379245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Deploy the churn risk framework across all customers and prioritize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2,521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High-Risk customers for proactive engagement, retention outreach, and continuous monitoring.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5ECE8A-19F2-4D4B-DC50-7AC520FC8A0F}"/>
              </a:ext>
            </a:extLst>
          </p:cNvPr>
          <p:cNvSpPr txBox="1"/>
          <p:nvPr/>
        </p:nvSpPr>
        <p:spPr>
          <a:xfrm>
            <a:off x="565354" y="5089412"/>
            <a:ext cx="75560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Geographic Retention Intervention: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34A79C-53A2-7057-1048-649702E41597}"/>
              </a:ext>
            </a:extLst>
          </p:cNvPr>
          <p:cNvSpPr txBox="1"/>
          <p:nvPr/>
        </p:nvSpPr>
        <p:spPr>
          <a:xfrm>
            <a:off x="565354" y="5905500"/>
            <a:ext cx="133792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Launch a dedicated retention program for Germany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32.4%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 rate), with special focus on high-value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50+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 and critical-risk customer segments.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1E21C8-CCB6-39AF-FACF-74E5E47982F1}"/>
              </a:ext>
            </a:extLst>
          </p:cNvPr>
          <p:cNvSpPr txBox="1"/>
          <p:nvPr/>
        </p:nvSpPr>
        <p:spPr>
          <a:xfrm>
            <a:off x="533400" y="7277100"/>
            <a:ext cx="92029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Product Penetration Enhancement: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D79739-BBDB-EE5A-9F30-4E62FFEB4532}"/>
              </a:ext>
            </a:extLst>
          </p:cNvPr>
          <p:cNvSpPr txBox="1"/>
          <p:nvPr/>
        </p:nvSpPr>
        <p:spPr>
          <a:xfrm>
            <a:off x="565354" y="8086036"/>
            <a:ext cx="133792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Execute targeted cross-sell campaigns for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5,084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single-product customers, moving customers toward the optimal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-product relationship where churn drops to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7.6%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080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B743F8-C9E5-F4BA-087E-057E03809D1D}"/>
              </a:ext>
            </a:extLst>
          </p:cNvPr>
          <p:cNvSpPr txBox="1"/>
          <p:nvPr/>
        </p:nvSpPr>
        <p:spPr>
          <a:xfrm>
            <a:off x="533400" y="11049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Customer Engagement Optimization: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7522B-F2BF-4387-C24A-66AFBB487475}"/>
              </a:ext>
            </a:extLst>
          </p:cNvPr>
          <p:cNvSpPr txBox="1"/>
          <p:nvPr/>
        </p:nvSpPr>
        <p:spPr>
          <a:xfrm>
            <a:off x="533400" y="1943100"/>
            <a:ext cx="13716000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Implement structured reactivation initiatives for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3,547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inactive customers, leveraging personalized communication, digital engagement, and relationship management programs.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F1806-8CB5-B89C-E9E9-CE479543D55F}"/>
              </a:ext>
            </a:extLst>
          </p:cNvPr>
          <p:cNvSpPr txBox="1"/>
          <p:nvPr/>
        </p:nvSpPr>
        <p:spPr>
          <a:xfrm>
            <a:off x="533400" y="33147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High-Value Customer Retention Strategy: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F4094-EE45-8E24-4999-5C444A6FB7FB}"/>
              </a:ext>
            </a:extLst>
          </p:cNvPr>
          <p:cNvSpPr txBox="1"/>
          <p:nvPr/>
        </p:nvSpPr>
        <p:spPr>
          <a:xfrm>
            <a:off x="533400" y="4152900"/>
            <a:ext cx="13716000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Develop premium retention programs for customers with higher balances, particularly those averaging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$91K+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to minimize financial exposure and preserve long-term customer value.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801CBB-8F68-50A1-6FBB-5CFD25F95A5B}"/>
              </a:ext>
            </a:extLst>
          </p:cNvPr>
          <p:cNvSpPr txBox="1"/>
          <p:nvPr/>
        </p:nvSpPr>
        <p:spPr>
          <a:xfrm>
            <a:off x="533400" y="5448300"/>
            <a:ext cx="944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Customer Lifecycle &amp; Loyalty Management: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0F0C0B-1D98-304F-5B35-8BB51A5BB216}"/>
              </a:ext>
            </a:extLst>
          </p:cNvPr>
          <p:cNvSpPr txBox="1"/>
          <p:nvPr/>
        </p:nvSpPr>
        <p:spPr>
          <a:xfrm>
            <a:off x="533400" y="6362700"/>
            <a:ext cx="1371600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Establish milestone-based engagement and loyalty programs focused on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50+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customers, tenure-based interventions, and relationship rewards to strengthen long-term retention and reduce future churn.</a:t>
            </a:r>
          </a:p>
        </p:txBody>
      </p:sp>
    </p:spTree>
    <p:extLst>
      <p:ext uri="{BB962C8B-B14F-4D97-AF65-F5344CB8AC3E}">
        <p14:creationId xmlns:p14="http://schemas.microsoft.com/office/powerpoint/2010/main" val="1675330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43200" y="-1654562"/>
            <a:ext cx="13596124" cy="135961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2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855677" y="2933700"/>
            <a:ext cx="4604695" cy="6081431"/>
          </a:xfrm>
          <a:custGeom>
            <a:avLst/>
            <a:gdLst/>
            <a:ahLst/>
            <a:cxnLst/>
            <a:rect l="l" t="t" r="r" b="b"/>
            <a:pathLst>
              <a:path w="4604695" h="3867944">
                <a:moveTo>
                  <a:pt x="0" y="0"/>
                </a:moveTo>
                <a:lnTo>
                  <a:pt x="4604695" y="0"/>
                </a:lnTo>
                <a:lnTo>
                  <a:pt x="4604695" y="3867944"/>
                </a:lnTo>
                <a:lnTo>
                  <a:pt x="0" y="3867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52600" y="419100"/>
            <a:ext cx="76962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8500" dirty="0">
                <a:solidFill>
                  <a:srgbClr val="4E2B63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E93C37-1116-F408-0611-BCB755F603DC}"/>
              </a:ext>
            </a:extLst>
          </p:cNvPr>
          <p:cNvSpPr txBox="1"/>
          <p:nvPr/>
        </p:nvSpPr>
        <p:spPr>
          <a:xfrm>
            <a:off x="2438400" y="2060650"/>
            <a:ext cx="10449232" cy="2225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The analysis reveals that customer churn is a significant business challenge, with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20.37%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of customers exiting and the majority of attrition concentrated in specific segments such as Germany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32.4%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churn), customers aged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50+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(44.6%)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, single-product holders (</a:t>
            </a:r>
            <a:r>
              <a:rPr lang="en-US" sz="213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27.7%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and inactive customers (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26.9%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). These segments represent the greatest retention risk and financial exposure.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EF07C-2827-D2DC-503A-54C36311EDBA}"/>
              </a:ext>
            </a:extLst>
          </p:cNvPr>
          <p:cNvSpPr txBox="1"/>
          <p:nvPr/>
        </p:nvSpPr>
        <p:spPr>
          <a:xfrm>
            <a:off x="2438400" y="4533900"/>
            <a:ext cx="10567218" cy="2100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The findings demonstrate that customer activity, product engagement, and targeted risk management are the most effective levers for reducing churn. By focusing on high-risk customers, increasing product adoption, and improving customer engagement, the organization can realistically achieve a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3–5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percentage point reduction in churn, protecting customer value and driving sustainable long-term growth.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EE86B3-D60D-A616-2417-4E0BAC3C79EA}"/>
              </a:ext>
            </a:extLst>
          </p:cNvPr>
          <p:cNvSpPr txBox="1"/>
          <p:nvPr/>
        </p:nvSpPr>
        <p:spPr>
          <a:xfrm>
            <a:off x="2440858" y="7077706"/>
            <a:ext cx="10564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lang="en-US" sz="28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3–5</a:t>
            </a:r>
            <a:r>
              <a:rPr lang="en-US" sz="2500" b="1" dirty="0">
                <a:latin typeface="Poppins" panose="00000500000000000000" pitchFamily="2" charset="0"/>
                <a:cs typeface="Poppins" panose="00000500000000000000" pitchFamily="2" charset="0"/>
              </a:rPr>
              <a:t> percentage point reduction in churn could retain approximately </a:t>
            </a:r>
            <a:r>
              <a:rPr lang="en-US" sz="28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300–500</a:t>
            </a:r>
            <a:r>
              <a:rPr lang="en-US" sz="2500" b="1" dirty="0">
                <a:latin typeface="Poppins" panose="00000500000000000000" pitchFamily="2" charset="0"/>
                <a:cs typeface="Poppins" panose="00000500000000000000" pitchFamily="2" charset="0"/>
              </a:rPr>
              <a:t> additional customers annually.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89938" y="-1654562"/>
            <a:ext cx="13596124" cy="135961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2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14800" y="2552700"/>
            <a:ext cx="10560174" cy="2064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 dirty="0">
                <a:solidFill>
                  <a:srgbClr val="8B6598"/>
                </a:solidFill>
                <a:latin typeface="Gill Sans Light Shadowed"/>
                <a:ea typeface="Gill Sans Light Shadowed"/>
                <a:cs typeface="Gill Sans Light Shadowed"/>
                <a:sym typeface="Gill Sans Light Shadowed"/>
              </a:rPr>
              <a:t>Thank You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789554" y="8497446"/>
            <a:ext cx="3579108" cy="357910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2F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17786" y="6596861"/>
            <a:ext cx="6050533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5400" b="1" dirty="0">
                <a:solidFill>
                  <a:srgbClr val="EC8888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 REGARDS,</a:t>
            </a:r>
          </a:p>
          <a:p>
            <a:pPr algn="l">
              <a:lnSpc>
                <a:spcPts val="6299"/>
              </a:lnSpc>
            </a:pPr>
            <a:r>
              <a:rPr lang="en-US" sz="5400" b="1" dirty="0">
                <a:solidFill>
                  <a:srgbClr val="EC8888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RONAK BHATIA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</TotalTime>
  <Words>3989</Words>
  <Application>Microsoft Office PowerPoint</Application>
  <PresentationFormat>Custom</PresentationFormat>
  <Paragraphs>252</Paragraphs>
  <Slides>42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Darker Grotesque Medium</vt:lpstr>
      <vt:lpstr>Poppins</vt:lpstr>
      <vt:lpstr>Arial</vt:lpstr>
      <vt:lpstr>Canva Sans</vt:lpstr>
      <vt:lpstr>Gill Sans Light Shadowed</vt:lpstr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ronak bhatia</cp:lastModifiedBy>
  <cp:revision>6</cp:revision>
  <dcterms:created xsi:type="dcterms:W3CDTF">2006-08-16T00:00:00Z</dcterms:created>
  <dcterms:modified xsi:type="dcterms:W3CDTF">2026-06-21T17:23:26Z</dcterms:modified>
  <dc:identifier>DAHMVj9S65g</dc:identifier>
</cp:coreProperties>
</file>